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7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MotionMind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04288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A88A"/>
                </a:solidFill>
                <a:latin typeface="Calibri"/>
              </a:rPr>
              <a:t>The Integrated Child Development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35808"/>
            <a:ext cx="4389120" cy="254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6126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D8E4"/>
                </a:solidFill>
                <a:latin typeface="Calibri"/>
              </a:rPr>
              <a:t>A wearable sensor band + camera gesture system + AI platform
that detects developmental gaps in children ages 3–11
and prescribes exactly what to do — at zero parent effort.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0060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8A"/>
                </a:solidFill>
                <a:latin typeface="Calibri"/>
              </a:rPr>
              <a:t>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280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8E4"/>
                </a:solidFill>
                <a:latin typeface="Calibri"/>
              </a:rPr>
              <a:t>Wearable Band  ·  Handgrip · Muscle ·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7608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8A"/>
                </a:solidFill>
                <a:latin typeface="Calibri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8E4"/>
                </a:solidFill>
                <a:latin typeface="Calibri"/>
              </a:rPr>
              <a:t>Camera System  ·  Hand-Tracking · Gesture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751576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8A"/>
                </a:solidFill>
                <a:latin typeface="Calibri"/>
              </a:rPr>
              <a:t>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790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8E4"/>
                </a:solidFill>
                <a:latin typeface="Calibri"/>
              </a:rPr>
              <a:t>AI Platform    ·  Gap Detection · Prescription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502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The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987552"/>
            <a:ext cx="4663440" cy="1905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1234440"/>
            <a:ext cx="46634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86600" y="1234440"/>
            <a:ext cx="128016" cy="11887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6912" y="13258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35C"/>
                </a:solidFill>
                <a:latin typeface="Calibri"/>
              </a:rPr>
              <a:t>⌚  WEARABLE BAND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170992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Handgrip strength  ·  Muscle EMG
Accelerometer  ·  Gyroscope
Worn on wrist / forearm during 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35C"/>
                </a:solidFill>
                <a:latin typeface="Calibr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2551176"/>
            <a:ext cx="46634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2551176"/>
            <a:ext cx="128016" cy="118872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96912" y="264261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8A"/>
                </a:solidFill>
                <a:latin typeface="Calibri"/>
              </a:rPr>
              <a:t>📷  CAMERA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3026664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21-pt hand skeleton (MediaPipe)
Body gesture tracking
Works on any tablet/phone camera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73989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35C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3867912"/>
            <a:ext cx="46634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4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86600" y="3867912"/>
            <a:ext cx="128016" cy="118872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96912" y="39593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6A"/>
                </a:solidFill>
                <a:latin typeface="Calibri"/>
              </a:rPr>
              <a:t>🤖  AI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43434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Real-time gap scoring
Developmental profile generation
Household activity prescription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0566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35C"/>
                </a:solidFill>
                <a:latin typeface="Calibri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5184648"/>
            <a:ext cx="46634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086600" y="5184648"/>
            <a:ext cx="128016" cy="1188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96912" y="527608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C24A"/>
                </a:solidFill>
                <a:latin typeface="Calibri"/>
              </a:rPr>
              <a:t>👨‍👩‍👧  PARENT + CLINICIAN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5660136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Weekly body report card
Pediatrician PDF / EHR integration
OT referral pathway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6446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BCG-Style Investor Deck  ·  Stanford CIM206  ·  March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256032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3268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  <a:latin typeface="Calibri"/>
              </a:rPr>
              <a:t>MotionMind addresses a $103B market with a hardware + software system that has no direct competitor.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81328"/>
            <a:ext cx="3749039" cy="498348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1618488"/>
            <a:ext cx="34747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SITUATION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048256"/>
            <a:ext cx="3419855" cy="127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22311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31136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6 hrs/day screen time for US children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926080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Only 18% meet movement guidelines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621024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21024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8M+ children ages 0–11 showing developmental symptoms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4315968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 in 6 children have a developmental disability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5010912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10912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Parents see the problem but have nothing to act with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39" y="1481328"/>
            <a:ext cx="3749039" cy="4983480"/>
          </a:xfrm>
          <a:prstGeom prst="rect">
            <a:avLst/>
          </a:prstGeom>
          <a:solidFill>
            <a:srgbClr val="1A1A2E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70831" y="1618488"/>
            <a:ext cx="34747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8A"/>
                </a:solidFill>
                <a:latin typeface="Calibri"/>
              </a:rPr>
              <a:t>COMPLICATION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1" y="2048256"/>
            <a:ext cx="3419855" cy="127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70831" y="22311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8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7" y="2231136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Screen management tools don't address body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1" y="2926080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8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7" y="2926080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Clinical OT is inaccessible until symptoms are severe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1" y="3621024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8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7" y="3621024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 product detects gaps AND prescribes intervention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1" y="4315968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8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7" y="4315968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Wearables for children don't exist in this 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010912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8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7" y="5010912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The developmental window (ages 3–7) closes silently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65006" y="1481328"/>
            <a:ext cx="3749039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598" y="1618488"/>
            <a:ext cx="34747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35C"/>
                </a:solidFill>
                <a:latin typeface="Calibri"/>
              </a:rPr>
              <a:t>RESOLUTION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598" y="2048256"/>
            <a:ext cx="3419855" cy="127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598" y="22311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9054" y="2231136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35C"/>
                </a:solidFill>
                <a:latin typeface="Calibri"/>
              </a:rPr>
              <a:t>MotionMind = wearable band + camera + AI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8" y="2926080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4" y="2926080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35C"/>
                </a:solidFill>
                <a:latin typeface="Calibri"/>
              </a:rPr>
              <a:t>Detects 7/8 developmental gaps in real 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8" y="3621024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4" y="3621024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35C"/>
                </a:solidFill>
                <a:latin typeface="Calibri"/>
              </a:rPr>
              <a:t>Prescribes gap-closing activities at zero parent effort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8" y="4315968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9054" y="4315968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35C"/>
                </a:solidFill>
                <a:latin typeface="Calibri"/>
              </a:rPr>
              <a:t>Works on hardware families already own + a $49 band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8" y="5010912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4" y="5010912"/>
            <a:ext cx="321868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35C"/>
                </a:solidFill>
                <a:latin typeface="Calibri"/>
              </a:rPr>
              <a:t>Launch-ready under FDA General Wellness (Jan 2026)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256032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The Problem Is Quantified — and Compounding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3268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  <a:latin typeface="Calibri"/>
              </a:rPr>
              <a:t>Every metric points to the same gap. The developmental window is closing without intervention.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81328"/>
            <a:ext cx="2212848" cy="141732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481328"/>
            <a:ext cx="2212848" cy="50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6 hrs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Screen time 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5456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Average US child ages 8–12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8336" y="1481328"/>
            <a:ext cx="2212848" cy="141732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88336" y="1481328"/>
            <a:ext cx="2212848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98064" y="1645920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Calibri"/>
              </a:rPr>
              <a:t>82%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219456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Movement deficit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2505456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Children NOT meeting movement guidelines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481328"/>
            <a:ext cx="2212848" cy="141732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1481328"/>
            <a:ext cx="2212848" cy="508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38928" y="1645920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6A1A"/>
                </a:solidFill>
                <a:latin typeface="Calibri"/>
              </a:rPr>
              <a:t>8M+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19456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Symptomatic children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2505456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US ages 0–11 showing developmental gaps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0064" y="1481328"/>
            <a:ext cx="2212848" cy="141732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70064" y="1481328"/>
            <a:ext cx="2212848" cy="508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79792" y="1645920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4A6A"/>
                </a:solidFill>
                <a:latin typeface="Calibri"/>
              </a:rPr>
              <a:t>28%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219456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Parental resignation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2505456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Give in to screens weekly to avoid meltdown (Lurie, 2025)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10928" y="1481328"/>
            <a:ext cx="2212848" cy="141732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710928" y="1481328"/>
            <a:ext cx="2212848" cy="508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20656" y="1645920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735C"/>
                </a:solidFill>
                <a:latin typeface="Calibri"/>
              </a:rPr>
              <a:t>1.7×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0656" y="219456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Dependency multiplier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6" y="2505456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Screen-as-reward increases dependency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3108960"/>
            <a:ext cx="11494008" cy="73152"/>
          </a:xfrm>
          <a:prstGeom prst="rect">
            <a:avLst/>
          </a:prstGeom>
          <a:solidFill>
            <a:srgbClr val="D8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7472" y="2944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8A9A"/>
                </a:solidFill>
                <a:latin typeface="Calibri"/>
              </a:rPr>
              <a:t>THE REINFORCING TRAP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3246120"/>
            <a:ext cx="1481328" cy="86868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" y="3310128"/>
            <a:ext cx="12984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3401568"/>
            <a:ext cx="9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8A9A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83664" y="3246120"/>
            <a:ext cx="1481328" cy="8686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75104" y="3310128"/>
            <a:ext cx="12984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Dopamine
hit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3401568"/>
            <a:ext cx="9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8A9A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9856" y="3246120"/>
            <a:ext cx="1481328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11296" y="3310128"/>
            <a:ext cx="12984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Meltdown
at 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1184" y="3401568"/>
            <a:ext cx="9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8A9A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246120"/>
            <a:ext cx="1481328" cy="86868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47488" y="3310128"/>
            <a:ext cx="12984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Screen
to manage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7376" y="3401568"/>
            <a:ext cx="9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8A9A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3246120"/>
            <a:ext cx="1481328" cy="8686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3310128"/>
            <a:ext cx="12984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Screen =
currency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73568" y="3401568"/>
            <a:ext cx="9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8A9A"/>
                </a:solidFill>
                <a:latin typeface="Calibr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28432" y="3246120"/>
            <a:ext cx="1481328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19872" y="3310128"/>
            <a:ext cx="12984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Relationship
erodes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3401568"/>
            <a:ext cx="9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8A9A"/>
                </a:solidFill>
                <a:latin typeface="Calibr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64624" y="3246120"/>
            <a:ext cx="1481328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56064" y="3310128"/>
            <a:ext cx="12984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Deeper
dependency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4315968"/>
            <a:ext cx="3749039" cy="210312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47472" y="4315968"/>
            <a:ext cx="3749039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4632" y="4462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35C"/>
                </a:solidFill>
                <a:latin typeface="Calibri"/>
              </a:rPr>
              <a:t>Child impact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" y="4864608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Motor gaps form silently by age 6.
Can't hold pencil → ADHD label.
Physical identity as 'not athletic' locks in.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9392" y="4315968"/>
            <a:ext cx="3749039" cy="210312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279392" y="4315968"/>
            <a:ext cx="3749039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416552" y="4462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35C"/>
                </a:solidFill>
                <a:latin typeface="Calibri"/>
              </a:rPr>
              <a:t>Parent impact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16552" y="4864608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Exhausted + resigned by age 8–11.
No tool to act with.
Relationship damage compounds.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11312" y="4315968"/>
            <a:ext cx="3749039" cy="210312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211312" y="4315968"/>
            <a:ext cx="3749039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48472" y="4462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35C"/>
                </a:solidFill>
                <a:latin typeface="Calibri"/>
              </a:rPr>
              <a:t>System impact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8472" y="4864608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$14.1T lifetime toll of untreated childhood adversity.
$9B+ annual early intervention spend.
All reactive — nothing is preventive.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256032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Market Sizing — A $103B Opportunity with Clear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3268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  <a:latin typeface="Calibri"/>
              </a:rPr>
              <a:t>MotionMind sits at the intersection of three converging markets.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81328"/>
            <a:ext cx="6400800" cy="498348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91056"/>
            <a:ext cx="6181344" cy="4754880"/>
          </a:xfrm>
          <a:prstGeom prst="rect">
            <a:avLst/>
          </a:prstGeom>
          <a:solidFill>
            <a:srgbClr val="E8F5F1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TAM — Child developmental health + rehab + digital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35C"/>
                </a:solidFill>
                <a:latin typeface="Calibri"/>
              </a:rPr>
              <a:t>$103B by 2034 (7% CAGR)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87168"/>
            <a:ext cx="5632704" cy="3474720"/>
          </a:xfrm>
          <a:prstGeom prst="rect">
            <a:avLst/>
          </a:prstGeom>
          <a:solidFill>
            <a:srgbClr val="D0EFE6"/>
          </a:solidFill>
          <a:ln w="1270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8A"/>
                </a:solidFill>
                <a:latin typeface="Calibri"/>
              </a:rPr>
              <a:t>SAM — US families with children 0–11 showing symptoms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89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8A"/>
                </a:solidFill>
                <a:latin typeface="Calibri"/>
              </a:rPr>
              <a:t>$14–18B addressable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346704"/>
            <a:ext cx="5047488" cy="2487168"/>
          </a:xfrm>
          <a:prstGeom prst="rect">
            <a:avLst/>
          </a:prstGeom>
          <a:solidFill>
            <a:srgbClr val="B8E8D8"/>
          </a:solidFill>
          <a:ln w="12700">
            <a:solidFill>
              <a:srgbClr val="4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4381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6A"/>
                </a:solidFill>
                <a:latin typeface="Calibri"/>
              </a:rPr>
              <a:t>SOM — Early adopter parents + pediatric OT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67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4A6A"/>
                </a:solidFill>
                <a:latin typeface="Calibri"/>
              </a:rPr>
              <a:t>$850M–$1.2B (Year 3–5)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8A9A"/>
                </a:solidFill>
                <a:latin typeface="Calibri"/>
              </a:rPr>
              <a:t>8M symptomatic US children × ~$120 ARPU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645152"/>
            <a:ext cx="4663440" cy="804672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4736592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WHITE SPACE:  Between Bark/Screen Time (mgmt) and clinical OT — nobody serves the pre-clinical family.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4813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Adjacent market segments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847088"/>
            <a:ext cx="4663440" cy="127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40880" y="2103120"/>
            <a:ext cx="4206240" cy="420624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20299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Kids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21214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$16B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2798064"/>
            <a:ext cx="1567030" cy="420624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2724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Parenting apps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9350" y="281635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8A"/>
                </a:solidFill>
                <a:latin typeface="Calibri"/>
              </a:rPr>
              <a:t>$6B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3493008"/>
            <a:ext cx="1096921" cy="420624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34198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Parental ctrl sw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241" y="351129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6A"/>
                </a:solidFill>
                <a:latin typeface="Calibri"/>
              </a:rPr>
              <a:t>$4.2B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4187952"/>
            <a:ext cx="420624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4114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Child rehab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420624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$103B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4882896"/>
            <a:ext cx="2391783" cy="420624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0" y="48097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Early interv.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4103" y="490118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1A"/>
                </a:solidFill>
                <a:latin typeface="Calibri"/>
              </a:rPr>
              <a:t>$9B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5577840"/>
            <a:ext cx="4206240" cy="420624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0" y="55046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Wearable health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559612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C24A"/>
                </a:solidFill>
                <a:latin typeface="Calibri"/>
              </a:rPr>
              <a:t>$60B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256032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The MotionMind System — Three Integrated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3268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  <a:latin typeface="Calibri"/>
              </a:rPr>
              <a:t>Wearable band + camera gesture system + AI platform. Not just an 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81328"/>
            <a:ext cx="3749039" cy="4983480"/>
          </a:xfrm>
          <a:prstGeom prst="rect">
            <a:avLst/>
          </a:prstGeom>
          <a:solidFill>
            <a:srgbClr val="E8F5F1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481328"/>
            <a:ext cx="3749039" cy="56692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591056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WEARABLE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10312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735C"/>
                </a:solidFill>
                <a:latin typeface="Calibri"/>
              </a:rPr>
              <a:t>Hardware · $49 MSRP · Worn on wrist/forearm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414016"/>
            <a:ext cx="3474719" cy="127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2356" y="2628900"/>
            <a:ext cx="118872" cy="11887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Handgrip 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788920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Force sensor · measures grip force in Newtons · key fine motor predictor</a:t>
            </a:r>
          </a:p>
        </p:txBody>
      </p:sp>
      <p:sp>
        <p:nvSpPr>
          <p:cNvPr id="16" name="Oval 15"/>
          <p:cNvSpPr/>
          <p:nvPr/>
        </p:nvSpPr>
        <p:spPr>
          <a:xfrm>
            <a:off x="562356" y="3250692"/>
            <a:ext cx="118872" cy="11887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3154680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Muscle activity (EMG)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410712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Surface electromyography · detects muscle engagement quality</a:t>
            </a:r>
          </a:p>
        </p:txBody>
      </p:sp>
      <p:sp>
        <p:nvSpPr>
          <p:cNvPr id="19" name="Oval 18"/>
          <p:cNvSpPr/>
          <p:nvPr/>
        </p:nvSpPr>
        <p:spPr>
          <a:xfrm>
            <a:off x="562356" y="3872484"/>
            <a:ext cx="118872" cy="11887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776472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Accelerometer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032504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3-axis · captures reach speed, movement amplitude, tremor</a:t>
            </a:r>
          </a:p>
        </p:txBody>
      </p:sp>
      <p:sp>
        <p:nvSpPr>
          <p:cNvPr id="22" name="Oval 21"/>
          <p:cNvSpPr/>
          <p:nvPr/>
        </p:nvSpPr>
        <p:spPr>
          <a:xfrm>
            <a:off x="562356" y="4494276"/>
            <a:ext cx="118872" cy="11887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4398264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Gyroscope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654296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Wrist rotation, forearm pronation/supination</a:t>
            </a:r>
          </a:p>
        </p:txBody>
      </p:sp>
      <p:sp>
        <p:nvSpPr>
          <p:cNvPr id="25" name="Oval 24"/>
          <p:cNvSpPr/>
          <p:nvPr/>
        </p:nvSpPr>
        <p:spPr>
          <a:xfrm>
            <a:off x="562356" y="5116068"/>
            <a:ext cx="118872" cy="11887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5020056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Skin conductance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276088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Arousal / stress proxy · flags dysregulation during play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5943600"/>
            <a:ext cx="3749039" cy="521207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600760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Captures what camera cannot: force, muscle quality, and physiological state.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4527" y="1481328"/>
            <a:ext cx="3749039" cy="4983480"/>
          </a:xfrm>
          <a:prstGeom prst="rect">
            <a:avLst/>
          </a:prstGeom>
          <a:solidFill>
            <a:srgbClr val="D8F0EB"/>
          </a:solidFill>
          <a:ln w="1270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24527" y="1481328"/>
            <a:ext cx="3749039" cy="566928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61687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7" y="1591056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CAMERA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7" y="210312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A88A"/>
                </a:solidFill>
                <a:latin typeface="Calibri"/>
              </a:rPr>
              <a:t>Software · Any front-facing camera · No extra hardware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61687" y="2414016"/>
            <a:ext cx="3474719" cy="127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439411" y="2628900"/>
            <a:ext cx="118872" cy="11887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36007" y="2532888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Hand skeleton (21pt)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6007" y="2788920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Google MediaPipe Hands · &lt;10ms latency · real-time on mobile</a:t>
            </a:r>
          </a:p>
        </p:txBody>
      </p:sp>
      <p:sp>
        <p:nvSpPr>
          <p:cNvPr id="39" name="Oval 38"/>
          <p:cNvSpPr/>
          <p:nvPr/>
        </p:nvSpPr>
        <p:spPr>
          <a:xfrm>
            <a:off x="4439411" y="3250692"/>
            <a:ext cx="118872" cy="11887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36007" y="3154680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Body pose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36007" y="3410712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Full-body landmark detection · gross motor + vestibular assessment</a:t>
            </a:r>
          </a:p>
        </p:txBody>
      </p:sp>
      <p:sp>
        <p:nvSpPr>
          <p:cNvPr id="42" name="Oval 41"/>
          <p:cNvSpPr/>
          <p:nvPr/>
        </p:nvSpPr>
        <p:spPr>
          <a:xfrm>
            <a:off x="4439411" y="3872484"/>
            <a:ext cx="118872" cy="11887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36007" y="3776472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Gesture scoring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36007" y="4032504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Pinch precision, reach accuracy, bilateral coordination</a:t>
            </a:r>
          </a:p>
        </p:txBody>
      </p:sp>
      <p:sp>
        <p:nvSpPr>
          <p:cNvPr id="45" name="Oval 44"/>
          <p:cNvSpPr/>
          <p:nvPr/>
        </p:nvSpPr>
        <p:spPr>
          <a:xfrm>
            <a:off x="4439411" y="4494276"/>
            <a:ext cx="118872" cy="11887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4398264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Visual-motor timing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36007" y="4654296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Reaction latency between visual cue and motor response</a:t>
            </a:r>
          </a:p>
        </p:txBody>
      </p:sp>
      <p:sp>
        <p:nvSpPr>
          <p:cNvPr id="48" name="Oval 47"/>
          <p:cNvSpPr/>
          <p:nvPr/>
        </p:nvSpPr>
        <p:spPr>
          <a:xfrm>
            <a:off x="4439411" y="5116068"/>
            <a:ext cx="118872" cy="11887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36007" y="5020056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Facial attention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36007" y="5276088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Engagement proxy — flags passive vs. active interaction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24527" y="5943600"/>
            <a:ext cx="3749039" cy="521207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87" y="600760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Captures spatial and gesture quality. Pairs with wearable for full-body picture.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01582" y="1481328"/>
            <a:ext cx="3749039" cy="4983480"/>
          </a:xfrm>
          <a:prstGeom prst="rect">
            <a:avLst/>
          </a:prstGeom>
          <a:solidFill>
            <a:srgbClr val="EDEDF5"/>
          </a:solidFill>
          <a:ln w="12700">
            <a:solidFill>
              <a:srgbClr val="4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101582" y="1481328"/>
            <a:ext cx="3749039" cy="566928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38742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95942" y="1591056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PLATFORM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8742" y="210312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4A6A"/>
                </a:solidFill>
                <a:latin typeface="Calibri"/>
              </a:rPr>
              <a:t>Cloud + on-device · Gap scoring + prescription engine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38742" y="2414016"/>
            <a:ext cx="3474719" cy="127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316466" y="2628900"/>
            <a:ext cx="118872" cy="11887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13062" y="2532888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Gap detection engine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13062" y="2788920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Fuses wearable + camera data → scores 7/8 developmental inputs</a:t>
            </a:r>
          </a:p>
        </p:txBody>
      </p:sp>
      <p:sp>
        <p:nvSpPr>
          <p:cNvPr id="62" name="Oval 61"/>
          <p:cNvSpPr/>
          <p:nvPr/>
        </p:nvSpPr>
        <p:spPr>
          <a:xfrm>
            <a:off x="8316466" y="3250692"/>
            <a:ext cx="118872" cy="11887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13062" y="3154680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Developmental profile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13062" y="3410712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Auto-generated gap profile after first session</a:t>
            </a:r>
          </a:p>
        </p:txBody>
      </p:sp>
      <p:sp>
        <p:nvSpPr>
          <p:cNvPr id="65" name="Oval 64"/>
          <p:cNvSpPr/>
          <p:nvPr/>
        </p:nvSpPr>
        <p:spPr>
          <a:xfrm>
            <a:off x="8316466" y="3872484"/>
            <a:ext cx="118872" cy="11887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13062" y="3776472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Activity Rx engine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13062" y="4032504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Prescribes household activities matched to detected gap</a:t>
            </a:r>
          </a:p>
        </p:txBody>
      </p:sp>
      <p:sp>
        <p:nvSpPr>
          <p:cNvPr id="68" name="Oval 67"/>
          <p:cNvSpPr/>
          <p:nvPr/>
        </p:nvSpPr>
        <p:spPr>
          <a:xfrm>
            <a:off x="8316466" y="4494276"/>
            <a:ext cx="118872" cy="11887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513062" y="4398264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Progress tracking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13062" y="4654296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Longitudinal scoring — tracks gap closure over weeks/months</a:t>
            </a:r>
          </a:p>
        </p:txBody>
      </p:sp>
      <p:sp>
        <p:nvSpPr>
          <p:cNvPr id="71" name="Oval 70"/>
          <p:cNvSpPr/>
          <p:nvPr/>
        </p:nvSpPr>
        <p:spPr>
          <a:xfrm>
            <a:off x="8316466" y="5116068"/>
            <a:ext cx="118872" cy="11887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513062" y="5020056"/>
            <a:ext cx="3200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Clinician dashboard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13062" y="5276088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PDF report + FHIR export for pediatrician / OT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01582" y="5943600"/>
            <a:ext cx="3749039" cy="521207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238742" y="600760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Turns raw sensor data into parent-readable, clinician-shareable developmental intelligence.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256032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Developmental Gap Coverage — MotionMind vs.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3268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  <a:latin typeface="Calibri"/>
              </a:rPr>
              <a:t>Only MotionMind closes 7/8 gaps. The 8th (relational) requires a human — nothing changes that.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81328"/>
            <a:ext cx="201168" cy="20116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Fully covered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2112" y="1481328"/>
            <a:ext cx="201168" cy="201168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32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Partially covered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6752" y="1481328"/>
            <a:ext cx="201168" cy="20116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Prescribe to close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51392" y="1481328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25712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Not covered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828800"/>
            <a:ext cx="10296144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" y="186537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Developmental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1865376"/>
            <a:ext cx="1389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Camera
(gesture)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1865376"/>
            <a:ext cx="1389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Wearable
(band)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865376"/>
            <a:ext cx="1627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Combined
MotionMind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1865376"/>
            <a:ext cx="1389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Tablet
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65376"/>
            <a:ext cx="1389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OT
clinic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2304288"/>
            <a:ext cx="10296144" cy="4937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239572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Fine motor precision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6432" y="2414016"/>
            <a:ext cx="566928" cy="27432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56432" y="241401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PART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414016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241401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2414016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41401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414016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8160" y="241401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19488" y="2414016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19488" y="241401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2816352"/>
            <a:ext cx="1029614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" y="2907792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Handgrip strength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56432" y="2926080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56432" y="292608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926080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0" y="292608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2926080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60" y="292608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2926080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60" y="292608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19488" y="2926080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19488" y="292608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3328416"/>
            <a:ext cx="10296144" cy="4937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8912" y="341985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Muscle quality (EMG)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56432" y="3438144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56432" y="343814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438144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37760" y="343814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3438144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37960" y="343814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3438144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38160" y="343814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19488" y="3438144"/>
            <a:ext cx="566928" cy="27432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19488" y="343814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PART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" y="3840480"/>
            <a:ext cx="1029614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8912" y="393192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Gross motor activation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56432" y="3950208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456432" y="395020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37760" y="3950208"/>
            <a:ext cx="566928" cy="27432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37760" y="395020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PART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60" y="3950208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37960" y="395020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38160" y="3950208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138160" y="395020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19488" y="3950208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619488" y="395020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7472" y="4352544"/>
            <a:ext cx="10296144" cy="4937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8912" y="4443984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Body schema / spatial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56432" y="4462272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456432" y="4462272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0" y="4462272"/>
            <a:ext cx="566928" cy="27432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37760" y="4462272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PART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37960" y="4462272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37960" y="4462272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38160" y="4462272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38160" y="4462272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19488" y="4462272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619488" y="4462272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" y="4864608"/>
            <a:ext cx="1029614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38912" y="495604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Visual-motor integration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56432" y="4974336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456432" y="497433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7760" y="4974336"/>
            <a:ext cx="566928" cy="27432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937760" y="497433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PART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37960" y="4974336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537960" y="497433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38160" y="4974336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138160" y="497433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19488" y="4974336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619488" y="497433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7472" y="5376672"/>
            <a:ext cx="10296144" cy="4937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8912" y="5468112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Vestibular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56432" y="5486400"/>
            <a:ext cx="566928" cy="27432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456432" y="548640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PART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37760" y="5486400"/>
            <a:ext cx="566928" cy="27432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937760" y="548640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PART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37960" y="5486400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537960" y="548640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138160" y="5486400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138160" y="548640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619488" y="5486400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619488" y="548640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7472" y="5888736"/>
            <a:ext cx="1029614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38912" y="598017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A8A9A"/>
                </a:solidFill>
                <a:latin typeface="Calibri"/>
              </a:rPr>
              <a:t>Relational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56432" y="5998464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3456432" y="599846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37760" y="5998464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937760" y="599846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537960" y="5998464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537960" y="599846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38160" y="5998464"/>
            <a:ext cx="56692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138160" y="599846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619488" y="5998464"/>
            <a:ext cx="566928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619488" y="599846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47472" y="6419088"/>
            <a:ext cx="10296144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20624" y="64556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072384" y="6455664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88A"/>
                </a:solidFill>
                <a:latin typeface="Calibri"/>
              </a:rPr>
              <a:t>5/8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53712" y="6455664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88A"/>
                </a:solidFill>
                <a:latin typeface="Calibri"/>
              </a:rPr>
              <a:t>6/8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035040" y="6455664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CC24A"/>
                </a:solidFill>
                <a:latin typeface="Calibri"/>
              </a:rPr>
              <a:t>7/8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754112" y="6455664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0/8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235440" y="6455664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8/8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" y="64556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072384" y="6455664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88A"/>
                </a:solidFill>
                <a:latin typeface="Calibri"/>
              </a:rPr>
              <a:t>5/8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53712" y="6455664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88A"/>
                </a:solidFill>
                <a:latin typeface="Calibri"/>
              </a:rPr>
              <a:t>6/8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35040" y="6455664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CC24A"/>
                </a:solidFill>
                <a:latin typeface="Calibri"/>
              </a:rPr>
              <a:t>7/8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754112" y="6455664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0/8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235440" y="6455664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8A9A"/>
                </a:solidFill>
                <a:latin typeface="Calibri"/>
              </a:rPr>
              <a:t>8/8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256032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Science Backbone — Every Claim Is Cited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3268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  <a:latin typeface="Calibri"/>
              </a:rPr>
              <a:t>The evidence base spans motor neuroscience, pediatric OT, and digital health meta-analyses.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81328"/>
            <a:ext cx="3657600" cy="201168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481328"/>
            <a:ext cx="91440" cy="201168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481328"/>
            <a:ext cx="3657600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VMI — Beery &amp; Beery, 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945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Visual-Motor Integration deficits are among the earliest predictors of fine motor delay and academic readiness. The Beery VMI (6th ed.) is the gold-standard OT assessment. MotionMind's camera system directly measures VMI in real time — no clinic visit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8" y="1481328"/>
            <a:ext cx="3657600" cy="201168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78808" y="1481328"/>
            <a:ext cx="91440" cy="201168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78808" y="1481328"/>
            <a:ext cx="3657600" cy="381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157276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8A"/>
                </a:solidFill>
                <a:latin typeface="Calibri"/>
              </a:rPr>
              <a:t>Visual-proprioceptive coupling
— PLOS One,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1945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Children ages 4–8 rely heavily on visual cues in spatial and motor tasks — a fundamentally different integration profile from adults. Gesture + hand-tracking interaction uniquely targets this critical developmental window.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1481328"/>
            <a:ext cx="3657600" cy="201168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0144" y="1481328"/>
            <a:ext cx="91440" cy="201168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10144" y="1481328"/>
            <a:ext cx="3657600" cy="381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93024" y="157276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6A"/>
                </a:solidFill>
                <a:latin typeface="Calibri"/>
              </a:rPr>
              <a:t>Embodied learning meta-analysis
44 studies, SMD = 0.41, p&lt;.01 (2025)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21945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Technology-based embodied learning (body-in-the-loop interaction) produces significant developmental gains across 44 studies. MotionMind's gesture system is the first to pair embodied play with real-time wearable biometric feedback.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630168"/>
            <a:ext cx="3657600" cy="201168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3630168"/>
            <a:ext cx="91440" cy="201168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7472" y="3630168"/>
            <a:ext cx="3657600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2160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Grip strength as motor predictor
— J. Child Neurology,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3434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Handgrip strength in children ages 4–11 is a validated predictor of overall motor development, coordination, and school readiness. Below-norm grip is detectable 18+ months before clinical referral. MotionMind's force sensor captures this continuously.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8808" y="3630168"/>
            <a:ext cx="3657600" cy="201168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78808" y="3630168"/>
            <a:ext cx="91440" cy="201168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78808" y="3630168"/>
            <a:ext cx="3657600" cy="381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61688" y="372160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8A"/>
                </a:solidFill>
                <a:latin typeface="Calibri"/>
              </a:rPr>
              <a:t>EMG in pediatric motor assessment
— Dev. Medicine &amp; Child Neurology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43434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Surface EMG is an established OT tool for assessing muscle recruitment quality in children with DCD (Developmental Coordination Disorder). Wearable consumer EMG is now achievable at &lt;$50 BOM — same technology used in Myo armband (Thalmic Labs).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10144" y="3630168"/>
            <a:ext cx="3657600" cy="2011680"/>
          </a:xfrm>
          <a:prstGeom prst="rect">
            <a:avLst/>
          </a:prstGeom>
          <a:solidFill>
            <a:srgbClr val="F5F5F7"/>
          </a:solidFill>
          <a:ln w="635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10144" y="3630168"/>
            <a:ext cx="9144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10144" y="3630168"/>
            <a:ext cx="3657600" cy="381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93024" y="372160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Heckman Equation — Nobel 2000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43434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7–12× ROI on early developmental intervention. The earlier the detection, the higher the return. MotionMind enables detection at ages 3–5 — before clinical thresholds are crossed. This is the economic case for payer coverage via IDEA codes.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256032"/>
            <a:ext cx="120274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1A1A2E"/>
                </a:solidFill>
                <a:latin typeface="Calibri"/>
              </a:rPr>
              <a:t>Competitive Positioning — </a:t>
            </a:r>
            <a:r>
              <a:rPr sz="3000" b="1" i="0" dirty="0" err="1">
                <a:solidFill>
                  <a:srgbClr val="1A1A2E"/>
                </a:solidFill>
                <a:latin typeface="Calibri"/>
              </a:rPr>
              <a:t>MotionMind</a:t>
            </a:r>
            <a:r>
              <a:rPr sz="3000" b="1" i="0" dirty="0">
                <a:solidFill>
                  <a:srgbClr val="1A1A2E"/>
                </a:solidFill>
                <a:latin typeface="Calibri"/>
              </a:rPr>
              <a:t> Owns the Uncontested Quadrant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87172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84734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4A4A6A"/>
                </a:solidFill>
                <a:latin typeface="Calibri"/>
              </a:rPr>
              <a:t>No competitor combines real-time biometric sensing with gap-specific developmental prescription.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463040"/>
            <a:ext cx="4343400" cy="2514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89320" y="1463040"/>
            <a:ext cx="4343400" cy="2514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45920" y="3977640"/>
            <a:ext cx="4343400" cy="2514600"/>
          </a:xfrm>
          <a:prstGeom prst="rect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3977640"/>
            <a:ext cx="4343400" cy="2514600"/>
          </a:xfrm>
          <a:prstGeom prst="rect">
            <a:avLst/>
          </a:prstGeom>
          <a:solidFill>
            <a:srgbClr val="E4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0" y="3964940"/>
            <a:ext cx="8686800" cy="25400"/>
          </a:xfrm>
          <a:prstGeom prst="rect">
            <a:avLst/>
          </a:prstGeom>
          <a:solidFill>
            <a:srgbClr val="D8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76620" y="1463040"/>
            <a:ext cx="25400" cy="5029200"/>
          </a:xfrm>
          <a:prstGeom prst="rect">
            <a:avLst/>
          </a:prstGeom>
          <a:solidFill>
            <a:srgbClr val="D8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65836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A9A"/>
                </a:solidFill>
                <a:latin typeface="Calibri"/>
              </a:rPr>
              <a:t>← Low Developmental Detection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463040"/>
            <a:ext cx="1097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A"/>
                </a:solidFill>
                <a:latin typeface="Calibri"/>
              </a:rPr>
              <a:t>HIGH
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977640"/>
            <a:ext cx="1097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A"/>
                </a:solidFill>
                <a:latin typeface="Calibri"/>
              </a:rPr>
              <a:t>LOW
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1051560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A9A"/>
                </a:solidFill>
                <a:latin typeface="Calibri"/>
              </a:rPr>
              <a:t>Hardware Only / No Prescription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051560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8A8A9A"/>
                </a:solidFill>
                <a:latin typeface="Calibri"/>
              </a:rPr>
              <a:t>Hardware + Software + Prescription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069080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A"/>
                </a:solidFill>
                <a:latin typeface="Calibri"/>
              </a:rPr>
              <a:t>Sensor-rich,
no prescription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069080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35C"/>
                </a:solidFill>
                <a:latin typeface="Calibri"/>
              </a:rPr>
              <a:t>MotionMind
TERRITORY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1554480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A"/>
                </a:solidFill>
                <a:latin typeface="Calibri"/>
              </a:rPr>
              <a:t>Low detection,
no prescription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554480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A"/>
                </a:solidFill>
                <a:latin typeface="Calibri"/>
              </a:rPr>
              <a:t>Partial detection,
no prescription</a:t>
            </a:r>
          </a:p>
        </p:txBody>
      </p:sp>
      <p:sp>
        <p:nvSpPr>
          <p:cNvPr id="22" name="Oval 21"/>
          <p:cNvSpPr/>
          <p:nvPr/>
        </p:nvSpPr>
        <p:spPr>
          <a:xfrm>
            <a:off x="8316468" y="2464308"/>
            <a:ext cx="210312" cy="21031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58784" y="2404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35C"/>
                </a:solidFill>
                <a:latin typeface="Calibri"/>
              </a:rPr>
              <a:t>MotionMind ★</a:t>
            </a:r>
          </a:p>
        </p:txBody>
      </p:sp>
      <p:sp>
        <p:nvSpPr>
          <p:cNvPr id="24" name="Oval 23"/>
          <p:cNvSpPr/>
          <p:nvPr/>
        </p:nvSpPr>
        <p:spPr>
          <a:xfrm>
            <a:off x="3131820" y="3145536"/>
            <a:ext cx="155448" cy="155448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46704" y="30586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6A"/>
                </a:solidFill>
                <a:latin typeface="Calibri"/>
              </a:rPr>
              <a:t>Nex Playground</a:t>
            </a:r>
          </a:p>
        </p:txBody>
      </p:sp>
      <p:sp>
        <p:nvSpPr>
          <p:cNvPr id="26" name="Oval 25"/>
          <p:cNvSpPr/>
          <p:nvPr/>
        </p:nvSpPr>
        <p:spPr>
          <a:xfrm>
            <a:off x="4174236" y="4402836"/>
            <a:ext cx="155448" cy="155448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4315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6A"/>
                </a:solidFill>
                <a:latin typeface="Calibri"/>
              </a:rPr>
              <a:t>Osmo</a:t>
            </a:r>
          </a:p>
        </p:txBody>
      </p:sp>
      <p:sp>
        <p:nvSpPr>
          <p:cNvPr id="28" name="Oval 27"/>
          <p:cNvSpPr/>
          <p:nvPr/>
        </p:nvSpPr>
        <p:spPr>
          <a:xfrm>
            <a:off x="2263140" y="5308092"/>
            <a:ext cx="155448" cy="155448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78024" y="52212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8A9A"/>
                </a:solidFill>
                <a:latin typeface="Calibri"/>
              </a:rPr>
              <a:t>GoNoodle</a:t>
            </a:r>
          </a:p>
        </p:txBody>
      </p:sp>
      <p:sp>
        <p:nvSpPr>
          <p:cNvPr id="30" name="Oval 29"/>
          <p:cNvSpPr/>
          <p:nvPr/>
        </p:nvSpPr>
        <p:spPr>
          <a:xfrm>
            <a:off x="2002536" y="5811012"/>
            <a:ext cx="155448" cy="155448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17420" y="57241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8A9A"/>
                </a:solidFill>
                <a:latin typeface="Calibri"/>
              </a:rPr>
              <a:t>Apple Screen Time</a:t>
            </a:r>
          </a:p>
        </p:txBody>
      </p:sp>
      <p:sp>
        <p:nvSpPr>
          <p:cNvPr id="32" name="Oval 31"/>
          <p:cNvSpPr/>
          <p:nvPr/>
        </p:nvSpPr>
        <p:spPr>
          <a:xfrm>
            <a:off x="3479292" y="3648456"/>
            <a:ext cx="155448" cy="155448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94176" y="35615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6A"/>
                </a:solidFill>
                <a:latin typeface="Calibri"/>
              </a:rPr>
              <a:t>Kinect / Xbox</a:t>
            </a:r>
          </a:p>
        </p:txBody>
      </p:sp>
      <p:sp>
        <p:nvSpPr>
          <p:cNvPr id="34" name="Oval 33"/>
          <p:cNvSpPr/>
          <p:nvPr/>
        </p:nvSpPr>
        <p:spPr>
          <a:xfrm>
            <a:off x="9212580" y="1888236"/>
            <a:ext cx="155448" cy="155448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27464" y="18013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A88A"/>
                </a:solidFill>
                <a:latin typeface="Calibri"/>
              </a:rPr>
              <a:t>Pediatric OT</a:t>
            </a:r>
          </a:p>
        </p:txBody>
      </p:sp>
      <p:sp>
        <p:nvSpPr>
          <p:cNvPr id="36" name="Oval 35"/>
          <p:cNvSpPr/>
          <p:nvPr/>
        </p:nvSpPr>
        <p:spPr>
          <a:xfrm>
            <a:off x="2871216" y="2793492"/>
            <a:ext cx="155448" cy="155448"/>
          </a:xfrm>
          <a:prstGeom prst="ellipse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086100" y="27066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6A1A"/>
                </a:solidFill>
                <a:latin typeface="Calibri"/>
              </a:rPr>
              <a:t>Fitbit / Garmin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256032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Product Architecture — How It Works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3268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  <a:latin typeface="Calibri"/>
              </a:rPr>
              <a:t>From first wear to developmental prescription in one session. Zero clinical expertise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81328"/>
            <a:ext cx="2103120" cy="2560320"/>
          </a:xfrm>
          <a:prstGeom prst="rect">
            <a:avLst/>
          </a:prstGeom>
          <a:solidFill>
            <a:srgbClr val="F5F5F7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481328"/>
            <a:ext cx="2103120" cy="4572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57276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Onboard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075688"/>
            <a:ext cx="1828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3-min OT-designed
parent setup.
Child profile created.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2532888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35C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481328"/>
            <a:ext cx="2103120" cy="2560320"/>
          </a:xfrm>
          <a:prstGeom prst="rect">
            <a:avLst/>
          </a:prstGeom>
          <a:solidFill>
            <a:srgbClr val="F5F5F7"/>
          </a:solidFill>
          <a:ln w="1270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42032" y="1481328"/>
            <a:ext cx="2103120" cy="4572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15544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157276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075688"/>
            <a:ext cx="1828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Band worn on wrist.
Camera activated.
All sensors live.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532888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35C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6592" y="1481328"/>
            <a:ext cx="2103120" cy="2560320"/>
          </a:xfrm>
          <a:prstGeom prst="rect">
            <a:avLst/>
          </a:prstGeom>
          <a:solidFill>
            <a:srgbClr val="F5F5F7"/>
          </a:solidFill>
          <a:ln w="12700">
            <a:solidFill>
              <a:srgbClr val="4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36592" y="1481328"/>
            <a:ext cx="2103120" cy="4572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15544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157276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2075688"/>
            <a:ext cx="1828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Child plays gesture
game. Body + hand
tracked in real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2532888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35C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31152" y="1481328"/>
            <a:ext cx="2103120" cy="2560320"/>
          </a:xfrm>
          <a:prstGeom prst="rect">
            <a:avLst/>
          </a:prstGeom>
          <a:solidFill>
            <a:srgbClr val="F5F5F7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31152" y="1481328"/>
            <a:ext cx="2103120" cy="4572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0" y="15544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157276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075688"/>
            <a:ext cx="1828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AI fuses wearable +
camera data → scores
7 developmental gaps.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2532888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35C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25712" y="1481328"/>
            <a:ext cx="2103120" cy="2560320"/>
          </a:xfrm>
          <a:prstGeom prst="rect">
            <a:avLst/>
          </a:prstGeom>
          <a:solidFill>
            <a:srgbClr val="F5F5F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25712" y="1481328"/>
            <a:ext cx="21031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0" y="15544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157276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Prescribe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2075688"/>
            <a:ext cx="1828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App delivers activity
Rx + weekly body
report card to parent.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8A9A"/>
                </a:solidFill>
                <a:latin typeface="Calibri"/>
              </a:rPr>
              <a:t>DATA ARCHITECTURE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4544568"/>
            <a:ext cx="11494008" cy="12700"/>
          </a:xfrm>
          <a:prstGeom prst="rect">
            <a:avLst/>
          </a:prstGeom>
          <a:solidFill>
            <a:srgbClr val="D8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47472" y="4663440"/>
            <a:ext cx="2377440" cy="1783080"/>
          </a:xfrm>
          <a:prstGeom prst="rect">
            <a:avLst/>
          </a:prstGeom>
          <a:solidFill>
            <a:srgbClr val="F5F5F7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47472" y="4663440"/>
            <a:ext cx="2377440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4736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35C"/>
                </a:solidFill>
                <a:latin typeface="Calibri"/>
              </a:rPr>
              <a:t>WEARABLE
SENSORS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23036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6A"/>
                </a:solidFill>
                <a:latin typeface="Calibri"/>
              </a:rPr>
              <a:t>Grip · EMG
Accel · Gyro
10Hz sampling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71800" y="4663440"/>
            <a:ext cx="2377440" cy="1783080"/>
          </a:xfrm>
          <a:prstGeom prst="rect">
            <a:avLst/>
          </a:prstGeom>
          <a:solidFill>
            <a:srgbClr val="F5F5F7"/>
          </a:solidFill>
          <a:ln w="1270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971800" y="4663440"/>
            <a:ext cx="2377440" cy="381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81528" y="4736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8A"/>
                </a:solidFill>
                <a:latin typeface="Calibri"/>
              </a:rPr>
              <a:t>CAMERA
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81528" y="523036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6A"/>
                </a:solidFill>
                <a:latin typeface="Calibri"/>
              </a:rPr>
              <a:t>21-pt hand
Body pose
30fps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96128" y="4663440"/>
            <a:ext cx="2377440" cy="1783080"/>
          </a:xfrm>
          <a:prstGeom prst="rect">
            <a:avLst/>
          </a:prstGeom>
          <a:solidFill>
            <a:srgbClr val="F5F5F7"/>
          </a:solidFill>
          <a:ln w="12700">
            <a:solidFill>
              <a:srgbClr val="4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596128" y="4663440"/>
            <a:ext cx="2377440" cy="381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05856" y="4736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4A6A"/>
                </a:solidFill>
                <a:latin typeface="Calibri"/>
              </a:rPr>
              <a:t>ON-DEVICE
AI FUSION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05856" y="523036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6A"/>
                </a:solidFill>
                <a:latin typeface="Calibri"/>
              </a:rPr>
              <a:t>Gap scoring
Profile engine
&lt;200ms latency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0456" y="4663440"/>
            <a:ext cx="2377440" cy="1783080"/>
          </a:xfrm>
          <a:prstGeom prst="rect">
            <a:avLst/>
          </a:prstGeom>
          <a:solidFill>
            <a:srgbClr val="F5F5F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20456" y="4663440"/>
            <a:ext cx="2377440" cy="381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30184" y="4736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CLOUD
PLATFORM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0184" y="523036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6A"/>
                </a:solidFill>
                <a:latin typeface="Calibri"/>
              </a:rPr>
              <a:t>Longitudinal data
Clinician dashboard
Anon. research DB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4663440"/>
            <a:ext cx="2377440" cy="1783080"/>
          </a:xfrm>
          <a:prstGeom prst="rect">
            <a:avLst/>
          </a:prstGeom>
          <a:solidFill>
            <a:srgbClr val="F5F5F7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149840" y="4663440"/>
            <a:ext cx="2377440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259568" y="4736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35C"/>
                </a:solidFill>
                <a:latin typeface="Calibri"/>
              </a:rPr>
              <a:t>PARENT /
CLINICIAN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59568" y="523036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6A"/>
                </a:solidFill>
                <a:latin typeface="Calibri"/>
              </a:rPr>
              <a:t>App report card
PDF / FHIR
OT referral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53035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35C"/>
                </a:solidFill>
                <a:latin typeface="Calibri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76088" y="53035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35C"/>
                </a:solidFill>
                <a:latin typeface="Calibri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63256" y="53035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35C"/>
                </a:solidFill>
                <a:latin typeface="Calibri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50424" y="53035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35C"/>
                </a:solidFill>
                <a:latin typeface="Calibr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72" y="6492240"/>
            <a:ext cx="11494008" cy="201168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6519672"/>
            <a:ext cx="11183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35C"/>
                </a:solidFill>
                <a:latin typeface="Calibri"/>
              </a:rPr>
              <a:t>🔒  COPPA 2025 compliant · Biometric data encrypted on-device · No 3rd-party analytics · Parent-only account · FDA General Wellness (Jan 2026) · $53,088/violation architecture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256032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Business Model &amp; Go-to-Market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3268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  <a:latin typeface="Calibri"/>
              </a:rPr>
              <a:t>Hardware + software revenue. Three parallel GTM tracks from day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481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REVENUE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847088"/>
            <a:ext cx="5303520" cy="1905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920240"/>
            <a:ext cx="5303520" cy="530352"/>
          </a:xfrm>
          <a:prstGeom prst="rect">
            <a:avLst/>
          </a:prstGeom>
          <a:solidFill>
            <a:srgbClr val="F5F5F7"/>
          </a:solidFill>
          <a:ln w="381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Wearable Band (hardware)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116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$49 MSRP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116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~$22 COGS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048256"/>
            <a:ext cx="713232" cy="256032"/>
          </a:xfrm>
          <a:prstGeom prst="round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5192" y="208483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487168"/>
            <a:ext cx="5303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5786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App — Free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5786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5786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CAC driver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615184"/>
            <a:ext cx="713232" cy="256032"/>
          </a:xfrm>
          <a:prstGeom prst="round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65192" y="265176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3054096"/>
            <a:ext cx="5303520" cy="530352"/>
          </a:xfrm>
          <a:prstGeom prst="rect">
            <a:avLst/>
          </a:prstGeom>
          <a:solidFill>
            <a:srgbClr val="F5F5F7"/>
          </a:solidFill>
          <a:ln w="381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1455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App — Premium subscription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1455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$9.99/mo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1455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Gap Rx library +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3182112"/>
            <a:ext cx="713232" cy="256032"/>
          </a:xfrm>
          <a:prstGeom prst="round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65192" y="321868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3621024"/>
            <a:ext cx="5303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7124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School / library license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37124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$499/site/yr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37124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B2B channel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3749040"/>
            <a:ext cx="713232" cy="256032"/>
          </a:xfrm>
          <a:prstGeom prst="round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65192" y="378561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4187952"/>
            <a:ext cx="5303520" cy="530352"/>
          </a:xfrm>
          <a:prstGeom prst="rect">
            <a:avLst/>
          </a:prstGeom>
          <a:solidFill>
            <a:srgbClr val="F5F5F7"/>
          </a:solidFill>
          <a:ln w="381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279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Clinical PDF + FHIR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42793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$29/provider/mo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42793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EHR integration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2040" y="4315968"/>
            <a:ext cx="713232" cy="256032"/>
          </a:xfrm>
          <a:prstGeom prst="round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65192" y="435254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4754880"/>
            <a:ext cx="5303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48463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 Novo → Medicaid/CHIP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4846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Rx DTx pricing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4846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  <a:latin typeface="Calibri"/>
              </a:rPr>
              <a:t>APDTA path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2040" y="4882896"/>
            <a:ext cx="713232" cy="256032"/>
          </a:xfrm>
          <a:prstGeom prst="round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65192" y="491947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2028+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1481328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GO-TO-MARKET TRACKS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1847088"/>
            <a:ext cx="5897880" cy="1905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0" y="1938528"/>
            <a:ext cx="5897880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943600" y="1938528"/>
            <a:ext cx="91440" cy="13716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26480" y="20299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35C"/>
                </a:solidFill>
                <a:latin typeface="Calibri"/>
              </a:rPr>
              <a:t>Track 1 — B2C Direct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243230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Free app + $49 band → app store (iOS + Android)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263347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Target: parents ages 25–40, children ages 3–7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283464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CAC: parenting blogs, pediatrician waiting rooms, TikTok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303580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HSA/FSA eligible from launch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0" y="3438144"/>
            <a:ext cx="5897880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43600" y="3438144"/>
            <a:ext cx="91440" cy="13716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26480" y="352958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8A"/>
                </a:solidFill>
                <a:latin typeface="Calibri"/>
              </a:rPr>
              <a:t>Track 2 — B2B Institutional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393192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School district site licensing — Title I priority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413308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Library lending program (equity access)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433425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IDEA early intervention codes (ages 0–3) — federal funding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453542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OT community session network — evidence generation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0" y="4937760"/>
            <a:ext cx="5897880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943600" y="4937760"/>
            <a:ext cx="9144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5029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Track 3 — Clinical Channel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543153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PDF report: fits 15-min well-child visit (now)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0" y="563270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SMART on FHIR v1.5 — pediatrician portal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583387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AAP Bright Futures alignment → endorsement path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0" y="603504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—  De Novo FDA → Medicaid/CHIP (APDTA, 2028)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" y="5504688"/>
            <a:ext cx="5303520" cy="7498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2920" y="5559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Unit economics (Year 3 model)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5833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C24A"/>
                </a:solidFill>
                <a:latin typeface="Calibri"/>
              </a:rPr>
              <a:t>LTV: ~$380  ·  CAC target: &lt;$45  ·  LTV:CAC = 8.4×  ·  Gross margin (software): 82%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256032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Regulatory &amp; Compliance — Launch-Ready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3268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  <a:latin typeface="Calibri"/>
              </a:rPr>
              <a:t>FDA General Wellness covers v1. Wearable adds FDA Class II pathway for v2.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81328"/>
            <a:ext cx="5394960" cy="4983480"/>
          </a:xfrm>
          <a:prstGeom prst="rect">
            <a:avLst/>
          </a:prstGeom>
          <a:solidFill>
            <a:srgbClr val="E8F5F1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481328"/>
            <a:ext cx="5394960" cy="47548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✓  V1 LAUNCH — FDA General Wellness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194560"/>
            <a:ext cx="128016" cy="128016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Camera gesture tracking + wellness summaries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3230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A88A"/>
                </a:solidFill>
                <a:latin typeface="Calibri"/>
              </a:rPr>
              <a:t>Covered: FDA General Wellness Guidance, Jan 6 2026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" y="2971800"/>
            <a:ext cx="128016" cy="128016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880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Activity prescription from movement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0954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A88A"/>
                </a:solidFill>
                <a:latin typeface="Calibri"/>
              </a:rPr>
              <a:t>Covered: Wellness coaching, not medical treatment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" y="3749040"/>
            <a:ext cx="128016" cy="128016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Wearable as wellness tracker (non-diagnostic)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8678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A88A"/>
                </a:solidFill>
                <a:latin typeface="Calibri"/>
              </a:rPr>
              <a:t>Covered: Non-invasive sensing + longitudinal wellness output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" y="4526280"/>
            <a:ext cx="128016" cy="128016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434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Gap report: 'grip strength is developing'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76402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A88A"/>
                </a:solidFill>
                <a:latin typeface="Calibri"/>
              </a:rPr>
              <a:t>Covered: Plain-language wellness progress summary</a:t>
            </a:r>
          </a:p>
        </p:txBody>
      </p:sp>
      <p:sp>
        <p:nvSpPr>
          <p:cNvPr id="22" name="Oval 21"/>
          <p:cNvSpPr/>
          <p:nvPr/>
        </p:nvSpPr>
        <p:spPr>
          <a:xfrm>
            <a:off x="576072" y="5303520"/>
            <a:ext cx="128016" cy="128016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212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'Consider seeing an OT'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54126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A88A"/>
                </a:solidFill>
                <a:latin typeface="Calibri"/>
              </a:rPr>
              <a:t>Covered: FDA allows professional referral prompts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81328"/>
            <a:ext cx="5852160" cy="2331720"/>
          </a:xfrm>
          <a:prstGeom prst="rect">
            <a:avLst/>
          </a:prstGeom>
          <a:solidFill>
            <a:srgbClr val="F5F0E8"/>
          </a:solidFill>
          <a:ln w="127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89320" y="1481328"/>
            <a:ext cx="5852160" cy="47548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44768" y="1554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→  V2 WEARABLE — FDA Class II Path</a:t>
            </a:r>
          </a:p>
        </p:txBody>
      </p:sp>
      <p:sp>
        <p:nvSpPr>
          <p:cNvPr id="28" name="Oval 27"/>
          <p:cNvSpPr/>
          <p:nvPr/>
        </p:nvSpPr>
        <p:spPr>
          <a:xfrm>
            <a:off x="6227064" y="2176271"/>
            <a:ext cx="128016" cy="128016"/>
          </a:xfrm>
          <a:prstGeom prst="ellipse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2084831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EMG diagnostic claims → 510(k) predicate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37743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86A1A"/>
                </a:solidFill>
                <a:latin typeface="Calibri"/>
              </a:rPr>
              <a:t>Predicate: Noraxon Ultium EMG</a:t>
            </a:r>
          </a:p>
        </p:txBody>
      </p:sp>
      <p:sp>
        <p:nvSpPr>
          <p:cNvPr id="31" name="Oval 30"/>
          <p:cNvSpPr/>
          <p:nvPr/>
        </p:nvSpPr>
        <p:spPr>
          <a:xfrm>
            <a:off x="6227064" y="2798063"/>
            <a:ext cx="128016" cy="128016"/>
          </a:xfrm>
          <a:prstGeom prst="ellipse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270662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Grip force diagnostic → Class II 510(k)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99923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86A1A"/>
                </a:solidFill>
                <a:latin typeface="Calibri"/>
              </a:rPr>
              <a:t>Predicate: Jamar dynamometer SW</a:t>
            </a:r>
          </a:p>
        </p:txBody>
      </p:sp>
      <p:sp>
        <p:nvSpPr>
          <p:cNvPr id="34" name="Oval 33"/>
          <p:cNvSpPr/>
          <p:nvPr/>
        </p:nvSpPr>
        <p:spPr>
          <a:xfrm>
            <a:off x="6227064" y="3419855"/>
            <a:ext cx="128016" cy="128016"/>
          </a:xfrm>
          <a:prstGeom prst="ellipse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3328415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DTx reimbursement pathway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62102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86A1A"/>
                </a:solidFill>
                <a:latin typeface="Calibri"/>
              </a:rPr>
              <a:t>APDTA De Novo → Medicaid/CHIP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4005072"/>
            <a:ext cx="5852160" cy="2459736"/>
          </a:xfrm>
          <a:prstGeom prst="rect">
            <a:avLst/>
          </a:prstGeom>
          <a:solidFill>
            <a:srgbClr val="F5F5E8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89320" y="4005072"/>
            <a:ext cx="5852160" cy="47548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44768" y="40782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⚠  COPPA 2025 — Deadline April 22 2026</a:t>
            </a:r>
          </a:p>
        </p:txBody>
      </p:sp>
      <p:sp>
        <p:nvSpPr>
          <p:cNvPr id="40" name="Oval 39"/>
          <p:cNvSpPr/>
          <p:nvPr/>
        </p:nvSpPr>
        <p:spPr>
          <a:xfrm>
            <a:off x="6236208" y="4553712"/>
            <a:ext cx="109728" cy="10972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453542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Parent account only — child never registers</a:t>
            </a:r>
          </a:p>
        </p:txBody>
      </p:sp>
      <p:sp>
        <p:nvSpPr>
          <p:cNvPr id="42" name="Oval 41"/>
          <p:cNvSpPr/>
          <p:nvPr/>
        </p:nvSpPr>
        <p:spPr>
          <a:xfrm>
            <a:off x="6236208" y="4901184"/>
            <a:ext cx="109728" cy="10972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488289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Verifiable parental consent before camera/band activates</a:t>
            </a:r>
          </a:p>
        </p:txBody>
      </p:sp>
      <p:sp>
        <p:nvSpPr>
          <p:cNvPr id="44" name="Oval 43"/>
          <p:cNvSpPr/>
          <p:nvPr/>
        </p:nvSpPr>
        <p:spPr>
          <a:xfrm>
            <a:off x="6236208" y="5248656"/>
            <a:ext cx="109728" cy="10972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0" y="52303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No 3rd-party analytics / ad SDKs in codebase</a:t>
            </a:r>
          </a:p>
        </p:txBody>
      </p:sp>
      <p:sp>
        <p:nvSpPr>
          <p:cNvPr id="46" name="Oval 45"/>
          <p:cNvSpPr/>
          <p:nvPr/>
        </p:nvSpPr>
        <p:spPr>
          <a:xfrm>
            <a:off x="6236208" y="5596128"/>
            <a:ext cx="109728" cy="10972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557784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Biometric data (EMG, grip, camera) = COPPA 2025 personal info</a:t>
            </a:r>
          </a:p>
        </p:txBody>
      </p:sp>
      <p:sp>
        <p:nvSpPr>
          <p:cNvPr id="48" name="Oval 47"/>
          <p:cNvSpPr/>
          <p:nvPr/>
        </p:nvSpPr>
        <p:spPr>
          <a:xfrm>
            <a:off x="6236208" y="5943600"/>
            <a:ext cx="109728" cy="10972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46520" y="592531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$53,088 per violation — architecture built before any testing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256032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Development Roadmap — 24-Month Critical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3268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  <a:latin typeface="Calibri"/>
              </a:rPr>
              <a:t>Field validation → MVP → wearable v1 → clinical evidence → FDA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81328"/>
            <a:ext cx="2743200" cy="438912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Now → Q2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920240"/>
            <a:ext cx="2743200" cy="384048"/>
          </a:xfrm>
          <a:prstGeom prst="rect">
            <a:avLst/>
          </a:prstGeom>
          <a:solidFill>
            <a:srgbClr val="E8F5F1"/>
          </a:solidFill>
          <a:ln w="635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35C"/>
                </a:solidFill>
                <a:latin typeface="Calibri"/>
              </a:rPr>
              <a:t>Validation &amp;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304288"/>
            <a:ext cx="2743200" cy="4160520"/>
          </a:xfrm>
          <a:prstGeom prst="rect">
            <a:avLst/>
          </a:prstGeom>
          <a:solidFill>
            <a:srgbClr val="F5F5F7"/>
          </a:solidFill>
          <a:ln w="635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9204" y="2510028"/>
            <a:ext cx="118872" cy="11887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Parent field interviews (n=10, ages 3–7)</a:t>
            </a:r>
          </a:p>
        </p:txBody>
      </p:sp>
      <p:sp>
        <p:nvSpPr>
          <p:cNvPr id="14" name="Oval 13"/>
          <p:cNvSpPr/>
          <p:nvPr/>
        </p:nvSpPr>
        <p:spPr>
          <a:xfrm>
            <a:off x="489204" y="3131820"/>
            <a:ext cx="118872" cy="11887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044952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Pediatric OT session shadow</a:t>
            </a:r>
          </a:p>
        </p:txBody>
      </p:sp>
      <p:sp>
        <p:nvSpPr>
          <p:cNvPr id="16" name="Oval 15"/>
          <p:cNvSpPr/>
          <p:nvPr/>
        </p:nvSpPr>
        <p:spPr>
          <a:xfrm>
            <a:off x="489204" y="3753612"/>
            <a:ext cx="118872" cy="11887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666744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COPPA architecture build</a:t>
            </a:r>
          </a:p>
        </p:txBody>
      </p:sp>
      <p:sp>
        <p:nvSpPr>
          <p:cNvPr id="18" name="Oval 17"/>
          <p:cNvSpPr/>
          <p:nvPr/>
        </p:nvSpPr>
        <p:spPr>
          <a:xfrm>
            <a:off x="489204" y="4375404"/>
            <a:ext cx="118872" cy="11887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4288536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Wearable sensor selection (grip + EMG)</a:t>
            </a:r>
          </a:p>
        </p:txBody>
      </p:sp>
      <p:sp>
        <p:nvSpPr>
          <p:cNvPr id="20" name="Oval 19"/>
          <p:cNvSpPr/>
          <p:nvPr/>
        </p:nvSpPr>
        <p:spPr>
          <a:xfrm>
            <a:off x="489204" y="4997196"/>
            <a:ext cx="118872" cy="11887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4910328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Gesture prototype (MediaPipe)</a:t>
            </a:r>
          </a:p>
        </p:txBody>
      </p:sp>
      <p:sp>
        <p:nvSpPr>
          <p:cNvPr id="22" name="Oval 21"/>
          <p:cNvSpPr/>
          <p:nvPr/>
        </p:nvSpPr>
        <p:spPr>
          <a:xfrm>
            <a:off x="489204" y="5618988"/>
            <a:ext cx="118872" cy="11887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5532120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Lock need statement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3552" y="1481328"/>
            <a:ext cx="2743200" cy="438912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3280" y="15361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3552" y="1920240"/>
            <a:ext cx="2743200" cy="384048"/>
          </a:xfrm>
          <a:prstGeom prst="rect">
            <a:avLst/>
          </a:prstGeom>
          <a:solidFill>
            <a:srgbClr val="F5F5F7"/>
          </a:solidFill>
          <a:ln w="635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80" y="196596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8A"/>
                </a:solidFill>
                <a:latin typeface="Calibri"/>
              </a:rPr>
              <a:t>MVP Launch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3552" y="2304288"/>
            <a:ext cx="2743200" cy="4160520"/>
          </a:xfrm>
          <a:prstGeom prst="rect">
            <a:avLst/>
          </a:prstGeom>
          <a:solidFill>
            <a:srgbClr val="F5F5F7"/>
          </a:solidFill>
          <a:ln w="635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415284" y="2510028"/>
            <a:ext cx="118872" cy="11887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39312" y="2423160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App store launch (iOS + Android)</a:t>
            </a:r>
          </a:p>
        </p:txBody>
      </p:sp>
      <p:sp>
        <p:nvSpPr>
          <p:cNvPr id="31" name="Oval 30"/>
          <p:cNvSpPr/>
          <p:nvPr/>
        </p:nvSpPr>
        <p:spPr>
          <a:xfrm>
            <a:off x="3415284" y="3131820"/>
            <a:ext cx="118872" cy="11887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39312" y="3044952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Free tier + premium subscription</a:t>
            </a:r>
          </a:p>
        </p:txBody>
      </p:sp>
      <p:sp>
        <p:nvSpPr>
          <p:cNvPr id="33" name="Oval 32"/>
          <p:cNvSpPr/>
          <p:nvPr/>
        </p:nvSpPr>
        <p:spPr>
          <a:xfrm>
            <a:off x="3415284" y="3753612"/>
            <a:ext cx="118872" cy="11887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39312" y="3666744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Band v1 (grip + accel + gyro)</a:t>
            </a:r>
          </a:p>
        </p:txBody>
      </p:sp>
      <p:sp>
        <p:nvSpPr>
          <p:cNvPr id="35" name="Oval 34"/>
          <p:cNvSpPr/>
          <p:nvPr/>
        </p:nvSpPr>
        <p:spPr>
          <a:xfrm>
            <a:off x="3415284" y="4375404"/>
            <a:ext cx="118872" cy="11887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39312" y="4288536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HSA/FSA filing</a:t>
            </a:r>
          </a:p>
        </p:txBody>
      </p:sp>
      <p:sp>
        <p:nvSpPr>
          <p:cNvPr id="37" name="Oval 36"/>
          <p:cNvSpPr/>
          <p:nvPr/>
        </p:nvSpPr>
        <p:spPr>
          <a:xfrm>
            <a:off x="3415284" y="4997196"/>
            <a:ext cx="118872" cy="11887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39312" y="4910328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OT community pilot (evidence gen)</a:t>
            </a:r>
          </a:p>
        </p:txBody>
      </p:sp>
      <p:sp>
        <p:nvSpPr>
          <p:cNvPr id="39" name="Oval 38"/>
          <p:cNvSpPr/>
          <p:nvPr/>
        </p:nvSpPr>
        <p:spPr>
          <a:xfrm>
            <a:off x="3415284" y="5618988"/>
            <a:ext cx="118872" cy="11887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39312" y="5532120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PDF report for pediatricians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1481328"/>
            <a:ext cx="2743200" cy="438912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15361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1920240"/>
            <a:ext cx="2743200" cy="384048"/>
          </a:xfrm>
          <a:prstGeom prst="rect">
            <a:avLst/>
          </a:prstGeom>
          <a:solidFill>
            <a:srgbClr val="F5F5F7"/>
          </a:solidFill>
          <a:ln w="6350">
            <a:solidFill>
              <a:srgbClr val="4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60" y="196596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6A"/>
                </a:solidFill>
                <a:latin typeface="Calibri"/>
              </a:rPr>
              <a:t>Scale &amp; Clinical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9632" y="2304288"/>
            <a:ext cx="2743200" cy="4160520"/>
          </a:xfrm>
          <a:prstGeom prst="rect">
            <a:avLst/>
          </a:prstGeom>
          <a:solidFill>
            <a:srgbClr val="F5F5F7"/>
          </a:solidFill>
          <a:ln w="6350">
            <a:solidFill>
              <a:srgbClr val="4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341364" y="2510028"/>
            <a:ext cx="118872" cy="11887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2423160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Band v1.5 + EMG sensor added</a:t>
            </a:r>
          </a:p>
        </p:txBody>
      </p:sp>
      <p:sp>
        <p:nvSpPr>
          <p:cNvPr id="48" name="Oval 47"/>
          <p:cNvSpPr/>
          <p:nvPr/>
        </p:nvSpPr>
        <p:spPr>
          <a:xfrm>
            <a:off x="6341364" y="3131820"/>
            <a:ext cx="118872" cy="11887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65392" y="3044952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School/library B2B pilots</a:t>
            </a:r>
          </a:p>
        </p:txBody>
      </p:sp>
      <p:sp>
        <p:nvSpPr>
          <p:cNvPr id="50" name="Oval 49"/>
          <p:cNvSpPr/>
          <p:nvPr/>
        </p:nvSpPr>
        <p:spPr>
          <a:xfrm>
            <a:off x="6341364" y="3753612"/>
            <a:ext cx="118872" cy="11887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65392" y="3666744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SMART on FHIR v1.5</a:t>
            </a:r>
          </a:p>
        </p:txBody>
      </p:sp>
      <p:sp>
        <p:nvSpPr>
          <p:cNvPr id="52" name="Oval 51"/>
          <p:cNvSpPr/>
          <p:nvPr/>
        </p:nvSpPr>
        <p:spPr>
          <a:xfrm>
            <a:off x="6341364" y="4375404"/>
            <a:ext cx="118872" cy="11887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65392" y="4288536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AAP pilot data collection begins</a:t>
            </a:r>
          </a:p>
        </p:txBody>
      </p:sp>
      <p:sp>
        <p:nvSpPr>
          <p:cNvPr id="54" name="Oval 53"/>
          <p:cNvSpPr/>
          <p:nvPr/>
        </p:nvSpPr>
        <p:spPr>
          <a:xfrm>
            <a:off x="6341364" y="4997196"/>
            <a:ext cx="118872" cy="11887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65392" y="4910328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Series A fundraising</a:t>
            </a:r>
          </a:p>
        </p:txBody>
      </p:sp>
      <p:sp>
        <p:nvSpPr>
          <p:cNvPr id="56" name="Oval 55"/>
          <p:cNvSpPr/>
          <p:nvPr/>
        </p:nvSpPr>
        <p:spPr>
          <a:xfrm>
            <a:off x="6341364" y="5618988"/>
            <a:ext cx="118872" cy="11887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65392" y="5532120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Expand to ages 0–3 (IDEA codes)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25712" y="1481328"/>
            <a:ext cx="27432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235440" y="15361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2027–2028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25712" y="1920240"/>
            <a:ext cx="2743200" cy="384048"/>
          </a:xfrm>
          <a:prstGeom prst="rect">
            <a:avLst/>
          </a:prstGeom>
          <a:solidFill>
            <a:srgbClr val="F5F5F7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35440" y="196596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Clinical Evidence &amp; Clearance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25712" y="2304288"/>
            <a:ext cx="2743200" cy="4160520"/>
          </a:xfrm>
          <a:prstGeom prst="rect">
            <a:avLst/>
          </a:prstGeom>
          <a:solidFill>
            <a:srgbClr val="F5F5F7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267444" y="2510028"/>
            <a:ext cx="118872" cy="118872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91472" y="2423160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AAP peer-reviewed publication</a:t>
            </a:r>
          </a:p>
        </p:txBody>
      </p:sp>
      <p:sp>
        <p:nvSpPr>
          <p:cNvPr id="65" name="Oval 64"/>
          <p:cNvSpPr/>
          <p:nvPr/>
        </p:nvSpPr>
        <p:spPr>
          <a:xfrm>
            <a:off x="9267444" y="3131820"/>
            <a:ext cx="118872" cy="118872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491472" y="3044952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510(k) / De Novo FDA filing</a:t>
            </a:r>
          </a:p>
        </p:txBody>
      </p:sp>
      <p:sp>
        <p:nvSpPr>
          <p:cNvPr id="67" name="Oval 66"/>
          <p:cNvSpPr/>
          <p:nvPr/>
        </p:nvSpPr>
        <p:spPr>
          <a:xfrm>
            <a:off x="9267444" y="3753612"/>
            <a:ext cx="118872" cy="118872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491472" y="3666744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Epic/Cerner FHIR v2 integration</a:t>
            </a:r>
          </a:p>
        </p:txBody>
      </p:sp>
      <p:sp>
        <p:nvSpPr>
          <p:cNvPr id="69" name="Oval 68"/>
          <p:cNvSpPr/>
          <p:nvPr/>
        </p:nvSpPr>
        <p:spPr>
          <a:xfrm>
            <a:off x="9267444" y="4375404"/>
            <a:ext cx="118872" cy="118872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491472" y="4288536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Medicaid/CHIP pathway (APDTA)</a:t>
            </a:r>
          </a:p>
        </p:txBody>
      </p:sp>
      <p:sp>
        <p:nvSpPr>
          <p:cNvPr id="71" name="Oval 70"/>
          <p:cNvSpPr/>
          <p:nvPr/>
        </p:nvSpPr>
        <p:spPr>
          <a:xfrm>
            <a:off x="9267444" y="4997196"/>
            <a:ext cx="118872" cy="118872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91472" y="4910328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International expansion (EU MDR)</a:t>
            </a:r>
          </a:p>
        </p:txBody>
      </p:sp>
      <p:sp>
        <p:nvSpPr>
          <p:cNvPr id="73" name="Oval 72"/>
          <p:cNvSpPr/>
          <p:nvPr/>
        </p:nvSpPr>
        <p:spPr>
          <a:xfrm>
            <a:off x="9267444" y="5618988"/>
            <a:ext cx="118872" cy="118872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491472" y="5532120"/>
            <a:ext cx="22677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6A"/>
                </a:solidFill>
                <a:latin typeface="Calibri"/>
              </a:rPr>
              <a:t>Series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7472" y="6583680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374904" y="6501384"/>
            <a:ext cx="164592" cy="164592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6072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35C"/>
                </a:solidFill>
                <a:latin typeface="Calibri"/>
              </a:rPr>
              <a:t>Field validation</a:t>
            </a:r>
          </a:p>
        </p:txBody>
      </p:sp>
      <p:sp>
        <p:nvSpPr>
          <p:cNvPr id="78" name="Oval 77"/>
          <p:cNvSpPr/>
          <p:nvPr/>
        </p:nvSpPr>
        <p:spPr>
          <a:xfrm>
            <a:off x="2587752" y="6501384"/>
            <a:ext cx="164592" cy="16459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78892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8A"/>
                </a:solidFill>
                <a:latin typeface="Calibri"/>
              </a:rPr>
              <a:t>App launch</a:t>
            </a:r>
          </a:p>
        </p:txBody>
      </p:sp>
      <p:sp>
        <p:nvSpPr>
          <p:cNvPr id="80" name="Oval 79"/>
          <p:cNvSpPr/>
          <p:nvPr/>
        </p:nvSpPr>
        <p:spPr>
          <a:xfrm>
            <a:off x="4800600" y="6501384"/>
            <a:ext cx="164592" cy="164592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01768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8A"/>
                </a:solidFill>
                <a:latin typeface="Calibri"/>
              </a:rPr>
              <a:t>Band v1</a:t>
            </a:r>
          </a:p>
        </p:txBody>
      </p:sp>
      <p:sp>
        <p:nvSpPr>
          <p:cNvPr id="82" name="Oval 81"/>
          <p:cNvSpPr/>
          <p:nvPr/>
        </p:nvSpPr>
        <p:spPr>
          <a:xfrm>
            <a:off x="7013448" y="6501384"/>
            <a:ext cx="164592" cy="164592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14616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4A6A"/>
                </a:solidFill>
                <a:latin typeface="Calibri"/>
              </a:rPr>
              <a:t>AAP data</a:t>
            </a:r>
          </a:p>
        </p:txBody>
      </p:sp>
      <p:sp>
        <p:nvSpPr>
          <p:cNvPr id="84" name="Oval 83"/>
          <p:cNvSpPr/>
          <p:nvPr/>
        </p:nvSpPr>
        <p:spPr>
          <a:xfrm>
            <a:off x="9226296" y="6501384"/>
            <a:ext cx="164592" cy="164592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27464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FDA filing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The Investment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7315200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691640"/>
            <a:ext cx="11430000" cy="109728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D8E4"/>
                </a:solidFill>
                <a:latin typeface="Calibri"/>
              </a:rPr>
              <a:t>MotionMind is the only system that combines a wearable sensor band with camera gesture tracking to detect 7/8 developmental gaps in children and deliver gap-specific prescriptions — at zero parent effort, without removing screens, on hardware families already own plus a $49 band.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2971800"/>
            <a:ext cx="3657600" cy="3337560"/>
          </a:xfrm>
          <a:prstGeom prst="rect">
            <a:avLst/>
          </a:prstGeom>
          <a:solidFill>
            <a:srgbClr val="2C2C3E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971800"/>
            <a:ext cx="3657600" cy="73152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1363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35C"/>
                </a:solidFill>
                <a:latin typeface="Calibri"/>
              </a:rPr>
              <a:t>Seed 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021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$750K – $1.2M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3328416" cy="127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05333" y="3970325"/>
            <a:ext cx="106070" cy="106070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Wearable band v1 (grip + accel + gyro)</a:t>
            </a:r>
          </a:p>
        </p:txBody>
      </p:sp>
      <p:sp>
        <p:nvSpPr>
          <p:cNvPr id="15" name="Oval 14"/>
          <p:cNvSpPr/>
          <p:nvPr/>
        </p:nvSpPr>
        <p:spPr>
          <a:xfrm>
            <a:off x="605333" y="4409237"/>
            <a:ext cx="106070" cy="106070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37083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COPPA architecture</a:t>
            </a:r>
          </a:p>
        </p:txBody>
      </p:sp>
      <p:sp>
        <p:nvSpPr>
          <p:cNvPr id="17" name="Oval 16"/>
          <p:cNvSpPr/>
          <p:nvPr/>
        </p:nvSpPr>
        <p:spPr>
          <a:xfrm>
            <a:off x="605333" y="4848149"/>
            <a:ext cx="106070" cy="106070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8097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App MVP + gesture engine</a:t>
            </a:r>
          </a:p>
        </p:txBody>
      </p:sp>
      <p:sp>
        <p:nvSpPr>
          <p:cNvPr id="19" name="Oval 18"/>
          <p:cNvSpPr/>
          <p:nvPr/>
        </p:nvSpPr>
        <p:spPr>
          <a:xfrm>
            <a:off x="605333" y="5287061"/>
            <a:ext cx="106070" cy="106070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2486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OT evidence generation (n=50)</a:t>
            </a:r>
          </a:p>
        </p:txBody>
      </p:sp>
      <p:sp>
        <p:nvSpPr>
          <p:cNvPr id="21" name="Oval 20"/>
          <p:cNvSpPr/>
          <p:nvPr/>
        </p:nvSpPr>
        <p:spPr>
          <a:xfrm>
            <a:off x="605333" y="5725973"/>
            <a:ext cx="106070" cy="106070"/>
          </a:xfrm>
          <a:prstGeom prst="ellipse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6875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HSA/FSA filing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2971800"/>
            <a:ext cx="3657600" cy="3337560"/>
          </a:xfrm>
          <a:prstGeom prst="rect">
            <a:avLst/>
          </a:prstGeom>
          <a:solidFill>
            <a:srgbClr val="2C2C3E"/>
          </a:solidFill>
          <a:ln w="1270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60" y="2971800"/>
            <a:ext cx="3657600" cy="73152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31363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8A"/>
                </a:solidFill>
                <a:latin typeface="Calibri"/>
              </a:rPr>
              <a:t>Advisors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35021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Clinical &amp; Technical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6552" y="3840480"/>
            <a:ext cx="3328416" cy="127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473245" y="3970325"/>
            <a:ext cx="106070" cy="106070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90872" y="39319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Pediatric OT (gap assessment validation)</a:t>
            </a:r>
          </a:p>
        </p:txBody>
      </p:sp>
      <p:sp>
        <p:nvSpPr>
          <p:cNvPr id="30" name="Oval 29"/>
          <p:cNvSpPr/>
          <p:nvPr/>
        </p:nvSpPr>
        <p:spPr>
          <a:xfrm>
            <a:off x="4473245" y="4409237"/>
            <a:ext cx="106070" cy="106070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0872" y="437083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Children's hospital research partner</a:t>
            </a:r>
          </a:p>
        </p:txBody>
      </p:sp>
      <p:sp>
        <p:nvSpPr>
          <p:cNvPr id="32" name="Oval 31"/>
          <p:cNvSpPr/>
          <p:nvPr/>
        </p:nvSpPr>
        <p:spPr>
          <a:xfrm>
            <a:off x="4473245" y="4848149"/>
            <a:ext cx="106070" cy="106070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90872" y="48097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Wearable hardware engineer</a:t>
            </a:r>
          </a:p>
        </p:txBody>
      </p:sp>
      <p:sp>
        <p:nvSpPr>
          <p:cNvPr id="34" name="Oval 33"/>
          <p:cNvSpPr/>
          <p:nvPr/>
        </p:nvSpPr>
        <p:spPr>
          <a:xfrm>
            <a:off x="4473245" y="5287061"/>
            <a:ext cx="106070" cy="106070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90872" y="52486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FDA regulatory counsel</a:t>
            </a:r>
          </a:p>
        </p:txBody>
      </p:sp>
      <p:sp>
        <p:nvSpPr>
          <p:cNvPr id="36" name="Oval 35"/>
          <p:cNvSpPr/>
          <p:nvPr/>
        </p:nvSpPr>
        <p:spPr>
          <a:xfrm>
            <a:off x="4473245" y="5725973"/>
            <a:ext cx="106070" cy="106070"/>
          </a:xfrm>
          <a:prstGeom prst="ellipse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90872" y="56875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AAP Section on Dev. Pediatrics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19872" y="2971800"/>
            <a:ext cx="3657600" cy="3337560"/>
          </a:xfrm>
          <a:prstGeom prst="rect">
            <a:avLst/>
          </a:prstGeom>
          <a:solidFill>
            <a:srgbClr val="2C2C3E"/>
          </a:solidFill>
          <a:ln w="12700">
            <a:solidFill>
              <a:srgbClr val="4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19872" y="2971800"/>
            <a:ext cx="3657600" cy="73152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84464" y="31363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4A6A"/>
                </a:solidFill>
                <a:latin typeface="Calibri"/>
              </a:rPr>
              <a:t>Pilot Partners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35021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3–5 Sites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84464" y="3840480"/>
            <a:ext cx="3328416" cy="127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341157" y="3970325"/>
            <a:ext cx="106070" cy="106070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58784" y="39319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Pediatric OT practices (PDF report pilot)</a:t>
            </a:r>
          </a:p>
        </p:txBody>
      </p:sp>
      <p:sp>
        <p:nvSpPr>
          <p:cNvPr id="45" name="Oval 44"/>
          <p:cNvSpPr/>
          <p:nvPr/>
        </p:nvSpPr>
        <p:spPr>
          <a:xfrm>
            <a:off x="8341157" y="4409237"/>
            <a:ext cx="106070" cy="106070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58784" y="437083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Title I school districts (B2B GTM)</a:t>
            </a:r>
          </a:p>
        </p:txBody>
      </p:sp>
      <p:sp>
        <p:nvSpPr>
          <p:cNvPr id="47" name="Oval 46"/>
          <p:cNvSpPr/>
          <p:nvPr/>
        </p:nvSpPr>
        <p:spPr>
          <a:xfrm>
            <a:off x="8341157" y="4848149"/>
            <a:ext cx="106070" cy="106070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58784" y="48097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Library system (equity access)</a:t>
            </a:r>
          </a:p>
        </p:txBody>
      </p:sp>
      <p:sp>
        <p:nvSpPr>
          <p:cNvPr id="49" name="Oval 48"/>
          <p:cNvSpPr/>
          <p:nvPr/>
        </p:nvSpPr>
        <p:spPr>
          <a:xfrm>
            <a:off x="8341157" y="5287061"/>
            <a:ext cx="106070" cy="106070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58784" y="52486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Early intervention program (IDEA 0–3)</a:t>
            </a:r>
          </a:p>
        </p:txBody>
      </p:sp>
      <p:sp>
        <p:nvSpPr>
          <p:cNvPr id="51" name="Oval 50"/>
          <p:cNvSpPr/>
          <p:nvPr/>
        </p:nvSpPr>
        <p:spPr>
          <a:xfrm>
            <a:off x="8341157" y="5725973"/>
            <a:ext cx="106070" cy="106070"/>
          </a:xfrm>
          <a:prstGeom prst="ellipse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58784" y="56875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8E4"/>
                </a:solidFill>
                <a:latin typeface="Calibri"/>
              </a:rPr>
              <a:t>Children's hospital (AAP data)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6510528"/>
            <a:ext cx="11430000" cy="18288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84048" y="652881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A9A"/>
                </a:solidFill>
                <a:latin typeface="Calibri"/>
              </a:rPr>
              <a:t>MotionMind  ·  Stanford CIM206 — Biodesign for Digital Health  ·  March 2026  ·  [contact@motionmind.com]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658368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64031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A9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2532</Words>
  <Application>Microsoft Macintosh PowerPoint</Application>
  <PresentationFormat>Custom</PresentationFormat>
  <Paragraphs>463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Silvia Adinda</cp:lastModifiedBy>
  <cp:revision>2</cp:revision>
  <dcterms:created xsi:type="dcterms:W3CDTF">2013-01-27T09:14:16Z</dcterms:created>
  <dcterms:modified xsi:type="dcterms:W3CDTF">2026-04-01T07:03:08Z</dcterms:modified>
  <cp:category/>
</cp:coreProperties>
</file>