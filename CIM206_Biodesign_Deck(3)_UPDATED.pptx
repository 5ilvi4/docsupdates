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Children, Screens &amp;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Gap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Biodesign need-finding project — Stanford CIM206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CIM206 — Biodesign for Digital Health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are permanent. The problem is what a child's body is NOT getting alongside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920240"/>
            <a:ext cx="73152" cy="105156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677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parents say child is addicted. Dopamine loop reinforces itself.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920240"/>
            <a:ext cx="73152" cy="105156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6432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disruption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22677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light + arousal suppress melatonin. Average child loses 1hr sleep/night.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73152" cy="105156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1072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as currency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2677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use screen as reward. Increases dependency 1.4–1.7×.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246120"/>
            <a:ext cx="73152" cy="10515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319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Social-emotional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59359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 formation requires face-to-face presence screens cannot provide.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24612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73152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56432" y="3319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body gaps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359359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hrs/day screens. Only 18% of children meet movement guidelines.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reinforcing trap: Screen → dopamine → meltdown → screen to manage → screen becomes currency → relationship erodes → deeper dependency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need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315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 child's physical and developmental needs are met alongside screens that are permanent but were never designed to meet them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128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families with children ages 0–11 where the child is already showing the symptoms of that gap and the parent sees the struggle but has nothing to act with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 to not have the distance between what a screen-shaped childhood provides and what a child's body and development actually need become the thing that quietly limits who that child gets to be.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3977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0–11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37360" y="39776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37360" y="3977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unit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9776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1752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permanent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97764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5488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already visible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97764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66560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has nothing to act with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candidate — pending field validation with parents of children ages 3–7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0700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$56B→$103B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rehab market by 2034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CAGR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14600" y="120700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$9B+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865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(US annual)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2677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federal mandate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63440" y="120700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1865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children 0–11 showing symptoms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2677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have developmental disability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12280" y="120700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1865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early intervention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22677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Heckman Equation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697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screen management tools (Bark, Apple Screen Time) and clinical treatment — nobody serves the family that sees something is wrong but hasn't entered the clinical pathway yet. That is the addressable market.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Kids apps: $2.2B→$16B (28% CAGR)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Parenting apps: $1.9B→$6B by 2035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Parental control software: $1.7B→$4.2B by 2035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315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$14.1T lifetime toll of untreated childhood adversity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developmental gap — science-backed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child's body needs vs. what screens deliver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10312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02336" y="1508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228600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96896" y="1508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requires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508760"/>
            <a:ext cx="100584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74336" y="1508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100584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28816" y="1508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508760"/>
            <a:ext cx="146304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26096" y="1508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38528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8912" y="19751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/ sensory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1975104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contact with varied surfaces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84648" y="2029968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85816" y="19933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029968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22008" y="19933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2029968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65008" y="19933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331720"/>
            <a:ext cx="8686800" cy="37490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38912" y="23682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Proprioceptive load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78608" y="2368296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Resistance, weight-bearing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84648" y="2423160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85816" y="23865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20840" y="2423160"/>
            <a:ext cx="182880" cy="18288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22008" y="23865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2423160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065008" y="23865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724912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38912" y="27614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78608" y="276148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positional change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84648" y="2816352"/>
            <a:ext cx="182880" cy="18288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85816" y="27797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20840" y="2816352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922008" y="27797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863840" y="2816352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065008" y="27797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" y="3118104"/>
            <a:ext cx="8686800" cy="37490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38912" y="3154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motor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78608" y="3154680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object manipulation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184648" y="3209544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85816" y="31729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20840" y="3209544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922008" y="31729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63840" y="3209544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065008" y="31729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511296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8912" y="35478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motor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78608" y="3547872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movement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84648" y="3602736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385816" y="3566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0840" y="3602736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922008" y="3566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863840" y="3602736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065008" y="3566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3904488"/>
            <a:ext cx="8686800" cy="37490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38912" y="39410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schema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578608" y="3941064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own body in space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184648" y="3995928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385816" y="39593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20840" y="3995928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922008" y="39593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863840" y="3995928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065008" y="39593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5760" y="4297680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38912" y="4334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578608" y="4334256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human body present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184648" y="4389120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385816" y="4352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20840" y="4389120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922008" y="4352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863840" y="4389120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065008" y="4352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65760" y="470916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Camera tracks hand &amp; body gestures in real time → detects fine and gross motor gaps → app prescribes household activities to close them. Only relational input requires another human.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664208" cy="45720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9728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6642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81965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hyperdrive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exposure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26974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8529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'Just this once'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1664208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0624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0624" y="38770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window — nobody names it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66544" y="1097280"/>
            <a:ext cx="1664208" cy="45720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066544" y="109728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2–4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66544" y="131673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66544" y="1627632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39696" y="16642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39696" y="181965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preferred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Dysregulation at off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66544" y="2660904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39696" y="26974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39696" y="28529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becomes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tool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66544" y="3694176"/>
            <a:ext cx="1664208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21408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21408" y="38770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battle — no transition tool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67328" y="1097280"/>
            <a:ext cx="1664208" cy="45720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767328" y="109728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4–6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67328" y="131673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Entrenchment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67328" y="1627632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840480" y="16642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0" y="181965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gaps forming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friction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67328" y="2660904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840480" y="26974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0" y="28529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something wrong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Pediatrician visit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67328" y="3694176"/>
            <a:ext cx="1664208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822192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22192" y="38770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connection — cause never named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68112" y="1097280"/>
            <a:ext cx="1664208" cy="45720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68112" y="109728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6–8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68112" y="131673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entry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68112" y="1627632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541264" y="16642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41264" y="181965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hold pencil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arrives (ADHD)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68112" y="2660904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541264" y="26974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41264" y="28529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calls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clinical system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68112" y="3694176"/>
            <a:ext cx="1664208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522976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22976" y="38770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reckoning — consequence treated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68896" y="1097280"/>
            <a:ext cx="166420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168896" y="109728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8–11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68896" y="131673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68896" y="1627632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242048" y="16642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42048" y="181965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hrs/day screens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meet movement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68896" y="2660904"/>
            <a:ext cx="16642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242048" y="26974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42048" y="28529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Exhausted, resigned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damage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168896" y="3694176"/>
            <a:ext cx="1664208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223760" y="3730752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223760" y="38770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 — baseline set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65760" y="1335024"/>
            <a:ext cx="8686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788920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8912" y="10789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must-haves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2788920" cy="21945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8912" y="142646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709928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adding effort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057400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require removing screens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404872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clear developmental signal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752344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daily conflict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72968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099816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expertise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788920" cy="219456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" y="352044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79476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 pathway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10565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as willing participant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471416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441655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782312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72744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without insurance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1078992"/>
            <a:ext cx="2788920" cy="34747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19272" y="10789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must-haves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1426464"/>
            <a:ext cx="2788920" cy="21945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19272" y="142646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1783080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520440" y="1709928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0–11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2130552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520440" y="2057400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feel like punishment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37560" y="2478024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20440" y="2404872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body physically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2825496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520440" y="2752344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+ COPPA-compliant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3172968"/>
            <a:ext cx="2788920" cy="219456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319272" y="31729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502152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520440" y="344728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engaging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37560" y="3813048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520440" y="3758184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physical competence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37560" y="4123944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520440" y="40690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specific gaps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0" y="1078992"/>
            <a:ext cx="2788920" cy="34747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99632" y="10789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must-haves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1426464"/>
            <a:ext cx="2788920" cy="21945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199632" y="142646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1783080"/>
            <a:ext cx="128016" cy="12801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0" y="1709928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mechanism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130552"/>
            <a:ext cx="128016" cy="12801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00800" y="2057400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15-minute well-child visit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2478024"/>
            <a:ext cx="128016" cy="12801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400800" y="2404872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screen load to symptoms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2825496"/>
            <a:ext cx="128016" cy="12801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0" y="2752344"/>
            <a:ext cx="2441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liability created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3172968"/>
            <a:ext cx="2788920" cy="219456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199632" y="31729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3502152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400800" y="344728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17920" y="3813048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00800" y="3758184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17920" y="4123944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400800" y="40690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Reimbursable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17920" y="4434840"/>
            <a:ext cx="109728" cy="10972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400800" y="437997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endorsement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landscape — all 22 vectors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148840" cy="310896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9184" y="107899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499616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screen break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2148840" cy="402336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975104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Hand-tracking gesture game 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450592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Biofeedback game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89504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926080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64992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3401568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1078992"/>
            <a:ext cx="1828800" cy="31089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69464" y="107899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146304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06040" y="149961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activity Rx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1938528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06040" y="197510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movement toy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241401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06040" y="245059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garment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2889504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606040" y="29260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Proprioceptive furniture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1078992"/>
            <a:ext cx="2148840" cy="31089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89704" y="107899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1463040"/>
            <a:ext cx="2148840" cy="402336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26280" y="1499616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objects 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34840" y="1938528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26280" y="1975104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blocks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2414016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26280" y="2450592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gloves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2889504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26280" y="2926080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console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34840" y="3364992"/>
            <a:ext cx="2148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26280" y="3401568"/>
            <a:ext cx="198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token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5120" y="1078992"/>
            <a:ext cx="2651760" cy="31089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729984" y="107899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Clinical / Community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146304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766560" y="149961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193852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66560" y="197510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Well-child screen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75120" y="2414016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66560" y="245059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Child-first device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75120" y="2889504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766560" y="29260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at-home DTx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75120" y="3364992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766560" y="340156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DTx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75120" y="38404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766560" y="387705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community session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75120" y="431596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766560" y="43525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space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75120" y="4791456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766560" y="48280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embodied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" y="4800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your solutions  |  22 vectors mapped against parent · child · clinician must-haves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matrix — top 10 solutions vs must-haves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10 stakeholder must-haves: green = fully meets · amber = partially · red = does not meet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19456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" y="14447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6040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0604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effort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73552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73552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screens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41064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941064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08576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conflict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76088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76088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punish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0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11112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11112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78624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278624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946136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46136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613648" y="1444752"/>
            <a:ext cx="64008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13648" y="1444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Scr.link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326880" y="1444752"/>
            <a:ext cx="502920" cy="3200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26880" y="14447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1801368"/>
            <a:ext cx="8778240" cy="283464"/>
          </a:xfrm>
          <a:prstGeom prst="rect">
            <a:avLst/>
          </a:prstGeom>
          <a:solidFill>
            <a:srgbClr val="E1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182880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Camera + objects ★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43784" y="186537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511296" y="186537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178808" y="186537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186537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513832" y="186537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181344" y="186537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48856" y="186537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516368" y="186537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183880" y="186537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851392" y="186537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326880" y="1874520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326880" y="1874520"/>
            <a:ext cx="377190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326880" y="182880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2103120"/>
            <a:ext cx="8778240" cy="283464"/>
          </a:xfrm>
          <a:prstGeom prst="rect">
            <a:avLst/>
          </a:prstGeom>
          <a:solidFill>
            <a:srgbClr val="E1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65760" y="213055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Hand-tracking ★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843784" y="216712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511296" y="216712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78808" y="216712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46320" y="216712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513832" y="216712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181344" y="216712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848856" y="216712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516368" y="216712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183880" y="216712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8851392" y="216712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9326880" y="2176272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326880" y="2176272"/>
            <a:ext cx="377190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326880" y="21305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2404872"/>
            <a:ext cx="8778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65760" y="243230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Well-child visit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843784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3511296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78808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846320" y="2468880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5513832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181344" y="2468880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848856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7516368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8183880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8851392" y="246888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9326880" y="2478024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9326880" y="2478024"/>
            <a:ext cx="402336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9326880" y="243230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0040" y="2706624"/>
            <a:ext cx="8778240" cy="28346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65760" y="273405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Signal dashboard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843784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3511296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178808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4846320" y="2770632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5513832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6181344" y="2770632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6848856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7516368" y="277063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8183880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8851392" y="277063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9326880" y="2779776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9326880" y="2779776"/>
            <a:ext cx="377190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9326880" y="27340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0040" y="3008376"/>
            <a:ext cx="8778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365760" y="30358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 screen break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843784" y="307238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3511296" y="307238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4178808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4846320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5513832" y="307238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6181344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6848856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7516368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8183880" y="307238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8851392" y="307238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9326880" y="3081528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9326880" y="3081528"/>
            <a:ext cx="352044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9326880" y="30358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20040" y="3310128"/>
            <a:ext cx="8778240" cy="28346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365760" y="333756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Activity Rx app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843784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3511296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4178808" y="337413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10" name="Shape 108"/>
          <p:cNvSpPr/>
          <p:nvPr/>
        </p:nvSpPr>
        <p:spPr>
          <a:xfrm>
            <a:off x="4846320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5513832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6181344" y="337413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6848856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7516368" y="3374136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8183880" y="337413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8851392" y="3374136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>
            <a:off x="9326880" y="3383280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9326880" y="3383280"/>
            <a:ext cx="402336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9326880" y="333756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20040" y="3611880"/>
            <a:ext cx="8778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365760" y="363931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OT community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843784" y="3675888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23" name="Shape 121"/>
          <p:cNvSpPr/>
          <p:nvPr/>
        </p:nvSpPr>
        <p:spPr>
          <a:xfrm>
            <a:off x="3511296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4178808" y="3675888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4846320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5513832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7" name="Shape 125"/>
          <p:cNvSpPr/>
          <p:nvPr/>
        </p:nvSpPr>
        <p:spPr>
          <a:xfrm>
            <a:off x="6181344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8" name="Shape 126"/>
          <p:cNvSpPr/>
          <p:nvPr/>
        </p:nvSpPr>
        <p:spPr>
          <a:xfrm>
            <a:off x="6848856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9" name="Shape 127"/>
          <p:cNvSpPr/>
          <p:nvPr/>
        </p:nvSpPr>
        <p:spPr>
          <a:xfrm>
            <a:off x="7516368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8183880" y="3675888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8851392" y="3675888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2" name="Shape 130"/>
          <p:cNvSpPr/>
          <p:nvPr/>
        </p:nvSpPr>
        <p:spPr>
          <a:xfrm>
            <a:off x="9326880" y="3685032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3" name="Shape 131"/>
          <p:cNvSpPr/>
          <p:nvPr/>
        </p:nvSpPr>
        <p:spPr>
          <a:xfrm>
            <a:off x="9326880" y="3685032"/>
            <a:ext cx="377190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9326880" y="36393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320040" y="3913632"/>
            <a:ext cx="8778240" cy="28346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365760" y="39410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Active console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2843784" y="397764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8" name="Shape 136"/>
          <p:cNvSpPr/>
          <p:nvPr/>
        </p:nvSpPr>
        <p:spPr>
          <a:xfrm>
            <a:off x="3511296" y="397764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9" name="Shape 137"/>
          <p:cNvSpPr/>
          <p:nvPr/>
        </p:nvSpPr>
        <p:spPr>
          <a:xfrm>
            <a:off x="4178808" y="3977640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40" name="Shape 138"/>
          <p:cNvSpPr/>
          <p:nvPr/>
        </p:nvSpPr>
        <p:spPr>
          <a:xfrm>
            <a:off x="4846320" y="397764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1" name="Shape 139"/>
          <p:cNvSpPr/>
          <p:nvPr/>
        </p:nvSpPr>
        <p:spPr>
          <a:xfrm>
            <a:off x="5513832" y="397764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6181344" y="3977640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3" name="Shape 141"/>
          <p:cNvSpPr/>
          <p:nvPr/>
        </p:nvSpPr>
        <p:spPr>
          <a:xfrm>
            <a:off x="6848856" y="3977640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44" name="Shape 142"/>
          <p:cNvSpPr/>
          <p:nvPr/>
        </p:nvSpPr>
        <p:spPr>
          <a:xfrm>
            <a:off x="7516368" y="3977640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45" name="Shape 143"/>
          <p:cNvSpPr/>
          <p:nvPr/>
        </p:nvSpPr>
        <p:spPr>
          <a:xfrm>
            <a:off x="8183880" y="3977640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8851392" y="3977640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9326880" y="3986784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8" name="Shape 146"/>
          <p:cNvSpPr/>
          <p:nvPr/>
        </p:nvSpPr>
        <p:spPr>
          <a:xfrm>
            <a:off x="9326880" y="3986784"/>
            <a:ext cx="301752" cy="13716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49" name="Text 147"/>
          <p:cNvSpPr/>
          <p:nvPr/>
        </p:nvSpPr>
        <p:spPr>
          <a:xfrm>
            <a:off x="9326880" y="39410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320040" y="4215384"/>
            <a:ext cx="8778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1" name="Text 149"/>
          <p:cNvSpPr/>
          <p:nvPr/>
        </p:nvSpPr>
        <p:spPr>
          <a:xfrm>
            <a:off x="365760" y="42428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Activity token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2843784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3" name="Shape 151"/>
          <p:cNvSpPr/>
          <p:nvPr/>
        </p:nvSpPr>
        <p:spPr>
          <a:xfrm>
            <a:off x="3511296" y="4279392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54" name="Shape 152"/>
          <p:cNvSpPr/>
          <p:nvPr/>
        </p:nvSpPr>
        <p:spPr>
          <a:xfrm>
            <a:off x="4178808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5" name="Shape 153"/>
          <p:cNvSpPr/>
          <p:nvPr/>
        </p:nvSpPr>
        <p:spPr>
          <a:xfrm>
            <a:off x="4846320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6" name="Shape 154"/>
          <p:cNvSpPr/>
          <p:nvPr/>
        </p:nvSpPr>
        <p:spPr>
          <a:xfrm>
            <a:off x="5513832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7" name="Shape 155"/>
          <p:cNvSpPr/>
          <p:nvPr/>
        </p:nvSpPr>
        <p:spPr>
          <a:xfrm>
            <a:off x="6181344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8" name="Shape 156"/>
          <p:cNvSpPr/>
          <p:nvPr/>
        </p:nvSpPr>
        <p:spPr>
          <a:xfrm>
            <a:off x="6848856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7516368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60" name="Shape 158"/>
          <p:cNvSpPr/>
          <p:nvPr/>
        </p:nvSpPr>
        <p:spPr>
          <a:xfrm>
            <a:off x="8183880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61" name="Shape 159"/>
          <p:cNvSpPr/>
          <p:nvPr/>
        </p:nvSpPr>
        <p:spPr>
          <a:xfrm>
            <a:off x="8851392" y="4279392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62" name="Shape 160"/>
          <p:cNvSpPr/>
          <p:nvPr/>
        </p:nvSpPr>
        <p:spPr>
          <a:xfrm>
            <a:off x="9326880" y="4288536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3" name="Shape 161"/>
          <p:cNvSpPr/>
          <p:nvPr/>
        </p:nvSpPr>
        <p:spPr>
          <a:xfrm>
            <a:off x="9326880" y="4288536"/>
            <a:ext cx="276606" cy="13716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64" name="Text 162"/>
          <p:cNvSpPr/>
          <p:nvPr/>
        </p:nvSpPr>
        <p:spPr>
          <a:xfrm>
            <a:off x="9326880" y="42428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20040" y="4517136"/>
            <a:ext cx="8778240" cy="28346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6" name="Text 164"/>
          <p:cNvSpPr/>
          <p:nvPr/>
        </p:nvSpPr>
        <p:spPr>
          <a:xfrm>
            <a:off x="365760" y="45445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OT at-home DTx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2843784" y="4581144"/>
            <a:ext cx="155448" cy="15544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168" name="Shape 166"/>
          <p:cNvSpPr/>
          <p:nvPr/>
        </p:nvSpPr>
        <p:spPr>
          <a:xfrm>
            <a:off x="3511296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69" name="Shape 167"/>
          <p:cNvSpPr/>
          <p:nvPr/>
        </p:nvSpPr>
        <p:spPr>
          <a:xfrm>
            <a:off x="4178808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0" name="Shape 168"/>
          <p:cNvSpPr/>
          <p:nvPr/>
        </p:nvSpPr>
        <p:spPr>
          <a:xfrm>
            <a:off x="4846320" y="458114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71" name="Shape 169"/>
          <p:cNvSpPr/>
          <p:nvPr/>
        </p:nvSpPr>
        <p:spPr>
          <a:xfrm>
            <a:off x="5513832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2" name="Shape 170"/>
          <p:cNvSpPr/>
          <p:nvPr/>
        </p:nvSpPr>
        <p:spPr>
          <a:xfrm>
            <a:off x="6181344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3" name="Shape 171"/>
          <p:cNvSpPr/>
          <p:nvPr/>
        </p:nvSpPr>
        <p:spPr>
          <a:xfrm>
            <a:off x="6848856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4" name="Shape 172"/>
          <p:cNvSpPr/>
          <p:nvPr/>
        </p:nvSpPr>
        <p:spPr>
          <a:xfrm>
            <a:off x="7516368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5" name="Shape 173"/>
          <p:cNvSpPr/>
          <p:nvPr/>
        </p:nvSpPr>
        <p:spPr>
          <a:xfrm>
            <a:off x="8183880" y="4581144"/>
            <a:ext cx="155448" cy="15544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176" name="Shape 174"/>
          <p:cNvSpPr/>
          <p:nvPr/>
        </p:nvSpPr>
        <p:spPr>
          <a:xfrm>
            <a:off x="8851392" y="4581144"/>
            <a:ext cx="155448" cy="1554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7" name="Shape 175"/>
          <p:cNvSpPr/>
          <p:nvPr/>
        </p:nvSpPr>
        <p:spPr>
          <a:xfrm>
            <a:off x="9326880" y="4590288"/>
            <a:ext cx="502920" cy="1371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8" name="Shape 176"/>
          <p:cNvSpPr/>
          <p:nvPr/>
        </p:nvSpPr>
        <p:spPr>
          <a:xfrm>
            <a:off x="9326880" y="4590288"/>
            <a:ext cx="402336" cy="1371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9" name="Text 177"/>
          <p:cNvSpPr/>
          <p:nvPr/>
        </p:nvSpPr>
        <p:spPr>
          <a:xfrm>
            <a:off x="9326880" y="45445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— hand-tracking gesture game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663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188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hand-tracking and body gesture system using real-time skeletal landmark detection (21-point hand model, Google MediaPipe Hands, 2020). The child interacts directly with the game world using hand gestures and full-body movements — no controller, no avatar, just their own hands and body.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gesture interaction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Kinect or Wii which map the child to a separate avatar, the game world responds directly to the child's hand gestures and body movements. This makes body engagement intrinsic to play — the child cannot be passive. Visual-motor integration (VMI) is trained directly through every purposeful gesture.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03904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4–8 integrate visual and proprioceptive cues differently from adults — they rely heavily on visual information in spatial tasks (PLOS One, 2020). Hand-tracking gesture interaction uniquely trains this developing system. Technology-based embodied learning: SMD = 0.41, p&lt;.01 (44 studies, 2025).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delivery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591056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59552" y="1517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schema + spatial cognition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011680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59552" y="19385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Visual-motor integration (VMI)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2432304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559552" y="23591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motor activation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852928"/>
            <a:ext cx="182880" cy="18288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559552" y="27797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Vestibular (if full-body moves)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3273552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559552" y="32004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discrimination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06640" y="320040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prescribe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3694176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9552" y="36210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Proprioceptive load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0" y="362102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prescribe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4114800"/>
            <a:ext cx="182880" cy="18288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59552" y="40416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motor precision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404164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prescribe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4480560"/>
            <a:ext cx="3474720" cy="34747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76672" y="4480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detects gesture quality &amp; gaps → app prescribes household activities to close each gap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17320" cy="11704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97280"/>
            <a:ext cx="1417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97280"/>
            <a:ext cx="6995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11680" y="1225296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94560" y="1170432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1 parent of child ages 3–7 — validate meltdown attribution, screen-as-currency, resignation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0" y="1572768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51790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Apple Screen Time + GoNoodle (free, 1 hour each)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94560" y="1865376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open prototype questions: age range + game mechanic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1417320" cy="117043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2395728"/>
            <a:ext cx="1417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395728"/>
            <a:ext cx="6995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011680" y="2523744"/>
            <a:ext cx="109728" cy="10972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94560" y="2468880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one pediatric OT assessment session — get clinical language for developmental gaps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2871216"/>
            <a:ext cx="109728" cy="10972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194560" y="2816352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Nex Playground — validate active screen time market, map your differentiation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0" y="3218688"/>
            <a:ext cx="109728" cy="109728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94560" y="316382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need statement after field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1417320" cy="11704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5760" y="3694176"/>
            <a:ext cx="1417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deliverable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694176"/>
            <a:ext cx="6995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011680" y="3822192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94560" y="3767328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competitive landscape (Slide 11) using scoring matrix as backbone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4169664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194560" y="4114800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prototype iteration — age-appropriate game mechanic design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0" y="4517136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94560" y="4462272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weekly OT community session as evidence generation vehicle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773168"/>
            <a:ext cx="8503920" cy="274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path: field validation → lock need statement → shadow OT → answer prototype questions → build competitive landscape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solution closes all 8 developmental inputs.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hand-tracking gesture game + activity prescription is the only solution that detects 7/8 developmental gaps and tells parents exactly what to do — at zero parent effort, without removing screens, using household objects already in the home. Nothing on the market combines real-time hand-tracking, gesture-based gameplay, and gap-specific activity prescription for children ages 0–11.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334670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 Playground: #2 US hardware Nov 2025 — market proof that parents pay for active screens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369417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Osmo: $100M+ acquisition — physical-digital hybrid is a validated commercial category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404164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Heckman Equation: 7–12× ROI on early intervention — the payer economic case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CIM206 — Biodesign for Digital Health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nice-to-haves — parent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nice-to-have mapped to a specific buildable feature and the validated parent pain it kills.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79222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0624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417320"/>
            <a:ext cx="288950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9424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parent pain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288950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75504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87782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01584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37360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0624" y="1792224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 pathway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12848" y="17739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parents are concerned their child spends too much time on screens (Pew Research, 2020) — most have no idea when it becomes clinical or who to call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57216" y="17739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share-with-pediatrician report · PDF of session data + developmental gains · Plain-language 'when to seek help' signal · OT referral directory (zip code)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10144" y="1956816"/>
            <a:ext cx="987552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10144" y="1956816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8778240" cy="713232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0624" y="254203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as willing participant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12848" y="25237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parents report screen-off conflicts at least occasionally. 37% say screen time almost always ends with a fight (Hiniker et al., 2016). Parent enforcing physical activity is a daily battle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57216" y="25237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world with ongoing narrative · Collectible objects unlock game levels · Child-chosen daily quest · Sibling co-play mode · Parent joins for 5-min duo mission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10144" y="2706624"/>
            <a:ext cx="987552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010144" y="27066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236976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20624" y="329184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12848" y="327355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parents give into screen time to avoid a meltdown multiple times a week (Lurie Children's, 2025). They capitulate because they have no evidence the alternative is working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57216" y="327355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body report card in plain language · Session motion heat map · Push notification of specific gains · Meltdown frequency tracker (parent-reported weekly prompt)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10144" y="3456432"/>
            <a:ext cx="987552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10144" y="34564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8778240" cy="713232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0624" y="4041648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without insurance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12848" y="4023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parents say they've used screens because they couldn't afford childcare (Lurie Children's, 2025). Pediatric digital health reimbursement is highly fragmented — no centralized model exists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57216" y="4023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HSA/FSA eligibility filing · Tiered pricing with free core tier · School / library licensing (B2B route to families) · IDEA early intervention codes (ages 0–3) · Subscription for premium activity prescription library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10144" y="4206240"/>
            <a:ext cx="987552" cy="274320"/>
          </a:xfrm>
          <a:prstGeom prst="roundRect">
            <a:avLst>
              <a:gd name="adj" fmla="val 20000"/>
            </a:avLst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010144" y="420624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Pew Research Center 2020 · Hiniker et al. 2016 (93%/37% conflict stats) · Lurie Children's Hospital 2025 (28%, 1-in-4 stats) · Nixon Law Group 2025 (reimbursement fragmentation)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nice-to-haves — child &amp; clinician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grounded in searched, sourced evidence — no fabricated statistics.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778240" cy="25603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17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nice-to-haves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1700784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673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1673352"/>
            <a:ext cx="2980944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48840" y="167335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child pain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1673352"/>
            <a:ext cx="2980944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66360" y="167335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build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38160" y="1673352"/>
            <a:ext cx="969264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83880" y="1673352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0624" y="2002536"/>
            <a:ext cx="16642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engaging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199339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screen play is isolating. Children resist the first step away from screens — but once engaged in co-play, they are happy (BMC Psychology, 2025). Relational input (8th gap) partially addressable through co-play design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38928" y="199339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2-player hand-tracking gesture co-op mode · Parent-child duo missions · Sibling challenge games · Async 'beat your friend's score' — no additional hardware needed if both players are in frame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01584" y="2130552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01584" y="213055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8778240" cy="557784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0624" y="2596896"/>
            <a:ext cx="16642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physical competence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258775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underdeveloped motor skills avoid physical activity — gap compounds. Child identity as 'not athletic' forms by age 6–8 before school PE reinforces 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38928" y="258775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skill level: 'Balance LEVEL 3' · Child-owned achievement log · Physical skill unlocks game powers · Adaptive difficulty as body improves · Camera tracks motion quality, not just movement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01584" y="2724912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01584" y="272491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877824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20624" y="3191256"/>
            <a:ext cx="16642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specific gaps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318211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movement programs don't target what this child is specifically missing. Most families never reach an OT for a gap-specific prescription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38928" y="3182112"/>
            <a:ext cx="2944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 OT-designed onboarding (5 observable questions) · Gap profile auto-generated · Game mode auto-selected by profile · Activity prescription matched to detected gap · Monthly re-assessment as gaps close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101584" y="3319272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101584" y="331927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OT input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3822192"/>
            <a:ext cx="8778240" cy="2560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3822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nice-to-haves — reimbursement &amp; evidence pathway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8778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20624" y="4105656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48840" y="4105656"/>
            <a:ext cx="5742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PDF formatted for visit · v1.5: SMART on FHIR patient portal · v2: HL7 FHIR Observation resources (partnership with Epic/Cerner — longer timeline, not a v1 scope)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09560" y="4105656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now / v2 later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4297680"/>
            <a:ext cx="8778240" cy="18288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20624" y="430682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148840" y="4306824"/>
            <a:ext cx="5742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session data is objective — gesture quality, hand-tracking accuracy, motion range, and frequency are all measurable per session. Build anonymized aggregate dashboard from day one. Outcome data is the prerequisite for reimbursement and AAP endorsement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909560" y="43068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build from day 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4498848"/>
            <a:ext cx="8778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20624" y="4507992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Reimbursable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48840" y="4507992"/>
            <a:ext cx="5742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HSA/FSA recognition: file immediately. IDEA codes (ages 0–3): federal funding pathway today. Long-term: Access to Prescription Digital Therapeutics Act would create standardized Medicaid/CHIP coverage for cleared digital health tools (bill monitoring required)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909560" y="4507992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HSA/FSA now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4700016"/>
            <a:ext cx="8778240" cy="18288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20624" y="4709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endorsement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48840" y="4709160"/>
            <a:ext cx="5742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Bright Futures guidelines · Publish pilot data in peer-reviewed journal · Submit to AAP Section on Developmental Pediatrics · Partner with Children's Hospital research team. OT community session is the evidence generation site from day one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909560" y="4709160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yr path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BMC Psychology 2025 · AAP Pediatric EHR Clinical Report 2024 · Nixon Law Group 2025 · Pathways.org (70+ OT experts) · Access to Prescription Digital Therapeutics Act 2023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— when FDA is and isn't needed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78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is NOT needed — launch now as General Wellness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1078992"/>
            <a:ext cx="4160520" cy="2560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0016" y="1078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IS needed — if you cross these lines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08176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" y="1481328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444752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tracks movement → outputs wellness summaries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65506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General Wellness guidance explicitly covers non-invasive sensing that outputs values, trends, or longitudinal summaries for wellness use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4160520" cy="54864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" y="2066544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029968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'consider seeing an OT'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240280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guidance allows notifying users a professional visit may be helpful — this does not trigger device regulation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78608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" y="2651760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615184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prescription from camera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82549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household activities based on observed movement = wellness coaching, not medical treatment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4160520" cy="54864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" y="3236976"/>
            <a:ext cx="109728" cy="1097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2004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report: 'balance tracking is developing'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410712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developmental progress summaries = wellness output, not diagnostic output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408176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27448" y="1481328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82896" y="1444752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 diagnose a condition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82896" y="165506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'This app diagnoses developmental delay' or 'screens for sensory processing disorder' → Software as Medical Device (SaMD), requires clearance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1993392"/>
            <a:ext cx="4160520" cy="54864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27448" y="2066544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82896" y="2029968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 treat a disorder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82896" y="2240280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'Treats ADHD' or 'therapeutic intervention for sensory dysfunction' → prescription digital therapeutic, requires De Novo or 510(k)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2578608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727448" y="2651760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82896" y="2615184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decision-making without clinician review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82896" y="282549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 replaces a clinician's judgment rather than supporting it — no independent review step — FDA CDS exemption does not apply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3163824"/>
            <a:ext cx="4160520" cy="548640"/>
          </a:xfrm>
          <a:prstGeom prst="rect">
            <a:avLst/>
          </a:prstGeom>
          <a:solidFill>
            <a:srgbClr val="F8F8F6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727448" y="3236976"/>
            <a:ext cx="109728" cy="109728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82896" y="32004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via insurance (Medicare/Medicaid)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82896" y="3410712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reimbursement requires FDA-cleared status. Access to Prescription Digital Therapeutics Act (APDTA) path: De Novo clearance → Medicaid/CHIP coverage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53712" y="1078992"/>
            <a:ext cx="0" cy="288950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65760" y="3858768"/>
            <a:ext cx="8412480" cy="219456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regardless of FDA posture — COPPA 2025 · compliance deadline April 22 2026 · $53,088 per violation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2336" y="4224528"/>
            <a:ext cx="82296" cy="8229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30352" y="41513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 only — child never registers · verifiable parental consent before camera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0016" y="4224528"/>
            <a:ext cx="82296" cy="8229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28032" y="41513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analytics or advertising SDKs · data minimization + retention limits required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" y="4535424"/>
            <a:ext cx="82296" cy="8229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30352" y="44622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Camera/body tracking = biometric personal information (2025 COPPA amendments)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0016" y="4535424"/>
            <a:ext cx="82296" cy="8229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828032" y="44622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COPPA architecture before testing — it cannot be retrofitted post-launch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FDA General Wellness Guidance Jan 6 2026 · FDA CDS Guidance Jan 6 2026 (Latham &amp; Watkins, Ropes &amp; Gray analysis) · COPPA Rule amendments FTC April 22 2025 · EndeavorRx FDA De Novo 2020 · APDTA 2023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Biodesign for Digital Health — CIM206</dc:title>
  <dc:subject>PptxGenJS Presentation</dc:subject>
  <dc:creator>PptxGenJS</dc:creator>
  <cp:lastModifiedBy>PptxGenJS</cp:lastModifiedBy>
  <cp:revision>1</cp:revision>
  <dcterms:created xsi:type="dcterms:W3CDTF">2026-04-01T05:38:14Z</dcterms:created>
  <dcterms:modified xsi:type="dcterms:W3CDTF">2026-04-01T05:38:14Z</dcterms:modified>
</cp:coreProperties>
</file>