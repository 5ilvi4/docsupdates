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MotionMind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B4D8"/>
                </a:solidFill>
                <a:latin typeface="Calibri"/>
              </a:rPr>
              <a:t>Your child's hands are the controller.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90672"/>
            <a:ext cx="5029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4F8"/>
                </a:solidFill>
                <a:latin typeface="Calibri"/>
              </a:rPr>
              <a:t>A camera-based hand-tracking and body gesture game that detects
developmental gaps in children ages 3–11 — and tells parents
exactly what to do about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00600"/>
            <a:ext cx="2011680" cy="475488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🎮  Gesture-First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800600"/>
            <a:ext cx="2011680" cy="475488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📷  Camera-Only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800600"/>
            <a:ext cx="2011680" cy="475488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🧠  Science-Backed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4800600"/>
            <a:ext cx="2011680" cy="475488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🏥  Clinician-Ready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548640"/>
            <a:ext cx="3108960" cy="5943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00B4D8"/>
                </a:solidFill>
                <a:latin typeface="Calibri"/>
              </a:rPr>
              <a:t>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40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21-point hand skeleton
Google MediaPipe Hands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Real-time · &lt;10ms · Camera-only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Investor &amp; Demo Deck  ·  March 2026  ·  Stanford CIM206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Screens are permanent. The problem is what the child's body is NOT getting.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136599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6 hours/day on screens · Only 18% of children meet movement guidelines · Screen → dopamine → meltdown → deeper dependency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77440"/>
            <a:ext cx="2148840" cy="3154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Digital Addiction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Calibri"/>
              </a:rPr>
              <a:t>54% of parents say their child is addicted.
Dopamine loop reinforces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377440"/>
            <a:ext cx="2148840" cy="3154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06324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Sleep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56616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Calibri"/>
              </a:rPr>
              <a:t>Blue light + arousal suppress melatonin.
Child loses avg 1hr sleep/night.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2377440"/>
            <a:ext cx="2148840" cy="3154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06324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Screen as Currency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356616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Calibri"/>
              </a:rPr>
              <a:t>55% use screen as reward.
Increases dependency 1.4–1.7×.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2377440"/>
            <a:ext cx="2148840" cy="3154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06324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Social-Emotional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356616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Calibri"/>
              </a:rPr>
              <a:t>Social skill formation requires face-to-face.
Screens cannot provide this.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65208" y="2377440"/>
            <a:ext cx="2148840" cy="3154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8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306324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Physical Body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56616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Calibri"/>
              </a:rPr>
              <a:t>Only 18% of kids meet movement guidelines.
Motor development silently falls behind.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71500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6B"/>
                </a:solidFill>
                <a:latin typeface="Calibri"/>
              </a:rPr>
              <a:t>The reinforcing trap:  Screen → dopamine → meltdown → screen to manage → screen becomes currency → relationship erodes → deeper dependency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A $103B market — and the white space is wide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6517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3560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$56B→$103B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Child rehab market by 2034
7% CAGR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25880"/>
            <a:ext cx="26517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3560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$9B+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Early intervention (US annual)
IDEA federal mandate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25880"/>
            <a:ext cx="26517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3560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8M+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US children 0–11 showing
developmental symptoms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325880"/>
            <a:ext cx="26517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43560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7–12×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ROI on early intervention
(Heckman Equation)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46120"/>
            <a:ext cx="11365992" cy="118872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⬜  The White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Calibri"/>
              </a:rPr>
              <a:t>Between screen management tools (Bark, Apple Screen Time) and clinical treatment — nobody serves the family that sees something is wrong but hasn't entered the clinical pathway yet. That is MotionMind's addressable market.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63440"/>
            <a:ext cx="1136599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Kids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000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$2.2B → $16B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7000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28% CAGR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47488"/>
            <a:ext cx="11365992" cy="34747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8406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Parenting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0840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$1.9B → $6B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0840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by 2035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31536"/>
            <a:ext cx="1136599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6811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Parental control sw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46811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$1.7B → $4.2B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681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by 2035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815584"/>
            <a:ext cx="11365992" cy="34747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85216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Untreated adversity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8521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$14.1T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85216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lifetime economic toll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 — MotionMind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Hand-tracking gesture game + gap-specific activity prescription.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6400800" cy="5212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A camera-based app that uses real-time hand-tracking and body gesture recognition (Google MediaPipe Hands, 21-point skeleton) to deliver a game children actually want to play — while simultaneously detecting and scoring developmental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383280"/>
            <a:ext cx="347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0156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Child plays gesture game — no controller, no avatar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785616"/>
            <a:ext cx="347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0390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Camera tracks hand &amp; body movements in real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187952"/>
            <a:ext cx="347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8795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 detects 7/8 developmental gaps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590288"/>
            <a:ext cx="347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9028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0857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Parent gets plain-language weekly body report 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992624"/>
            <a:ext cx="347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9262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109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 prescribes household activities to close each 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1234440"/>
            <a:ext cx="4782312" cy="521208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📱  Works on any tablet or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99AE"/>
                </a:solidFill>
                <a:latin typeface="Calibri"/>
              </a:rPr>
              <a:t>No special hardware. Just a front camera.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194560"/>
            <a:ext cx="43891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3317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Gaps detected by MotionMind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2862072"/>
            <a:ext cx="201168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788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Body schema + spatial cognition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246120"/>
            <a:ext cx="201168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3172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Visual-motor integration (VMI)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630168"/>
            <a:ext cx="201168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5570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Gross motor activation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4014216"/>
            <a:ext cx="201168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39410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Vestibular (full-body movement)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398264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4325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Fine motor precision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4782312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709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Proprioceptive load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5166360"/>
            <a:ext cx="201168" cy="2011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5093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Tactile discrimination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577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  <a:latin typeface="Calibri"/>
              </a:rPr>
              <a:t>● Camera detects  ● Prescribes  ● Tracks progress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Product Demo —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From first launch to developmental insight in under 5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057400" cy="3840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057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47548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7568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1783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Parent opens app.
Child profile created.
3-min OT onboarding.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29718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1325880"/>
            <a:ext cx="2057400" cy="3840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1488" y="1325880"/>
            <a:ext cx="2057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1488" y="1463040"/>
            <a:ext cx="47548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146304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  <a:latin typeface="Calibri"/>
              </a:rPr>
              <a:t>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207568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2587752"/>
            <a:ext cx="1783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Child plays gesture game.
Hands &amp; body tracked live.
No controller needed.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29718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1496" y="1325880"/>
            <a:ext cx="2057400" cy="3840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11496" y="1325880"/>
            <a:ext cx="2057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1496" y="1463040"/>
            <a:ext cx="47548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146304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0136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  <a:latin typeface="Calibri"/>
              </a:rPr>
              <a:t>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207568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587752"/>
            <a:ext cx="1783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Camera scores gesture quality,
motion range, hand precision
&amp; body schema in real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29718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61504" y="1325880"/>
            <a:ext cx="2057400" cy="3840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61504" y="1325880"/>
            <a:ext cx="2057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61504" y="1463040"/>
            <a:ext cx="47548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1504" y="146304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4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207568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2587752"/>
            <a:ext cx="1783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Weekly body report card.
Plain language for parents.
'Balance: Level 2 → Level 3'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9718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1512" y="1325880"/>
            <a:ext cx="2057400" cy="3840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11512" y="1325880"/>
            <a:ext cx="2057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11512" y="1463040"/>
            <a:ext cx="47548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11512" y="146304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0152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  <a:latin typeface="Calibri"/>
              </a:rPr>
              <a:t>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2075688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Prescribe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2587752"/>
            <a:ext cx="1783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App prescribes gap-closing
household activities.
Zero extra effort needed.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349240"/>
            <a:ext cx="11365992" cy="82296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4589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Demo available:  Open app → point camera at child's hands → watch real-time skeleton overlay + gap scoring populate live.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Science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Every claim is sourced. Every mechanism is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35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3560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Visual-Motor Integration
(VMI)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VMI deficits are among the earliest predictors of fine motor delay &amp; academic readiness.
Beery &amp; Beery, 2010 — Beery VMI (6th ed.), standard OT assessment tool.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35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43560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Visual-Proprioceptive
Coupling in Children 4–8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Children ages 4–8 rely heavily on visual cues for spatial and motor tasks — different from adults.
PLOS One, 2020 — well-established developmental neuroscience.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43560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Embodied Learning
Meta-Analysis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031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Technology-based embodied learning produces significant motor &amp; cognitive gains.
SMD = 0.41, p&lt;.01 across 44 studies (2025 meta-analysis).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2044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2044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30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6301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Gesture-Based Interaction
vs. Passive Touch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2976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Gesture-based game interfaces show significant gains in fine motor coordination vs. passive touchscreen.
Ramstrand et al., 2023.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52044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52044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6301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Heckman Equation —
Early Intervention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2976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7–12× return on investment for early developmental intervention.
Heckman, Nobel Prize in Economics — federal policy basis for IDEA funding.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352044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52044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630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6301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COPPA 2025 + FDA
General Wellness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2976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FDA Jan 2026: camera-based wellness sensing + activity prescription = General Wellness, not SaMD.
COPPA 2025 amendments cover biometric data — MotionMind architecture is compliant.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MotionMind is the only product that detects AND prescribes.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088136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807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3807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Gesture / Hand-Track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3807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Detects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3807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Prescribes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38074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COPPA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8632" y="13807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No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64792"/>
            <a:ext cx="10881360" cy="4937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1764792"/>
            <a:ext cx="54864" cy="4937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1837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MotionMind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8379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✅ 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8379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✅ 7/8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1837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✅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18379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18379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5999"/>
            <a:ext cx="10881360" cy="493776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35915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Nex Playground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3591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 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235915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235915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35915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3591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807206"/>
            <a:ext cx="10881360" cy="4937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288035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Osmo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288035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⚠️ 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288035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288035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⚠️ 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288035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288035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328413"/>
            <a:ext cx="10881360" cy="493776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340156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GoNoodle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0632" y="340156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340156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340156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340156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340156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849620"/>
            <a:ext cx="10881360" cy="4937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" y="39227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Apple Screen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0632" y="39227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39227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39227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2" y="39227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8632" y="39227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370827"/>
            <a:ext cx="10881360" cy="493776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" y="44439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Kinect / Xbox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70632" y="444397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 Body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2" y="444397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53912" y="44439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9912" y="44439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⚠️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444397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892034"/>
            <a:ext cx="10881360" cy="49377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496518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Pediatric 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70632" y="496518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⚠️ Manual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07992" y="496518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3912" y="496518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 Manual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9912" y="496518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8632" y="496518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N/A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0350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6D6A0"/>
                </a:solidFill>
                <a:latin typeface="Calibri"/>
              </a:rPr>
              <a:t>★ MotionMind is the only solution that combines real-time gesture tracking, automatic developmental gap detection, and zero-effort activity prescription — on hardware families already own.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Product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Built for three users — parent, child, and clinician.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611880" cy="5212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3611880" cy="50292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👨‍👩‍👧  For Parents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333756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Weekly plain-language body report card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Session motion heat map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Push notification of specific gains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Meltdown frequency tracker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Share-with-pediatrician PDF report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OT referral directory (zip code)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HSA/FSA eligible · Free core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3611880" cy="5212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611880" cy="50292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89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🧒  For Children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84248"/>
            <a:ext cx="333756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Story world with ongoing narrative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Collectible objects unlock game levels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Child-chosen daily quest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Sibling co-play mode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2-player gesture co-op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Skill level: 'Balance LEVEL 3'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Adaptive difficulty as body improves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611880" cy="5212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3611880" cy="50292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89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  <a:latin typeface="Calibri"/>
              </a:rPr>
              <a:t>🩺  For Clinicians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84248"/>
            <a:ext cx="333756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PDF formatted for 15-min well-child visit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SMART on FHIR patient portal (v1.5)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HL7 FHIR Observation (v2 / Epic/Cerner)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Anonymized outcome data dashboard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AAP Bright Futures alignment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IDEA codes (ages 0–3) — federal pathway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De Novo path → Medicaid/CHIP (APDTA)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Regulatory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Launch-ready today. Clear path to reimbursement.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303520" cy="5120640"/>
          </a:xfrm>
          <a:prstGeom prst="rect">
            <a:avLst/>
          </a:prstGeom>
          <a:solidFill>
            <a:srgbClr val="03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53035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✅  FDA NOT NEEDED — Launch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06D6A0"/>
                </a:solidFill>
                <a:latin typeface="Calibri"/>
              </a:rPr>
              <a:t>✓  </a:t>
            </a:r>
            <a:r>
              <a:rPr sz="1250">
                <a:solidFill>
                  <a:srgbClr val="FFFFFF"/>
                </a:solidFill>
                <a:latin typeface="Calibri"/>
              </a:rPr>
              <a:t>Camera tracks movement → wellness summaries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06D6A0"/>
                </a:solidFill>
                <a:latin typeface="Calibri"/>
              </a:rPr>
              <a:t>✓  </a:t>
            </a:r>
            <a:r>
              <a:rPr sz="1250">
                <a:solidFill>
                  <a:srgbClr val="FFFFFF"/>
                </a:solidFill>
                <a:latin typeface="Calibri"/>
              </a:rPr>
              <a:t>Activity prescription from camera data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06D6A0"/>
                </a:solidFill>
                <a:latin typeface="Calibri"/>
              </a:rPr>
              <a:t>✓  </a:t>
            </a:r>
            <a:r>
              <a:rPr sz="1250">
                <a:solidFill>
                  <a:srgbClr val="FFFFFF"/>
                </a:solidFill>
                <a:latin typeface="Calibri"/>
              </a:rPr>
              <a:t>Gap report: 'balance tracking is developing'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06D6A0"/>
                </a:solidFill>
                <a:latin typeface="Calibri"/>
              </a:rPr>
              <a:t>✓  </a:t>
            </a:r>
            <a:r>
              <a:rPr sz="1250">
                <a:solidFill>
                  <a:srgbClr val="FFFFFF"/>
                </a:solidFill>
                <a:latin typeface="Calibri"/>
              </a:rPr>
              <a:t>Prompt: 'consider seeing an OT'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06D6A0"/>
                </a:solidFill>
                <a:latin typeface="Calibri"/>
              </a:rPr>
              <a:t>✓  </a:t>
            </a:r>
            <a:r>
              <a:rPr sz="1250">
                <a:solidFill>
                  <a:srgbClr val="FFFFFF"/>
                </a:solidFill>
                <a:latin typeface="Calibri"/>
              </a:rPr>
              <a:t>All covered under FDA General Wellness
Guidance, January 6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325880"/>
            <a:ext cx="5788152" cy="5120640"/>
          </a:xfrm>
          <a:prstGeom prst="rect">
            <a:avLst/>
          </a:prstGeom>
          <a:solidFill>
            <a:srgbClr val="20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5788152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⚠️  FDA NEEDED — Do NOT Cross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4864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1">
                <a:solidFill>
                  <a:srgbClr val="FF6B6B"/>
                </a:solidFill>
                <a:latin typeface="Calibri"/>
              </a:rPr>
              <a:t>✗  </a:t>
            </a:r>
            <a:r>
              <a:rPr sz="1250">
                <a:solidFill>
                  <a:srgbClr val="FFFFFF"/>
                </a:solidFill>
                <a:latin typeface="Calibri"/>
              </a:rPr>
              <a:t>Claim to diagnose a condition (SaMD — needs clearance)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FF6B6B"/>
                </a:solidFill>
                <a:latin typeface="Calibri"/>
              </a:rPr>
              <a:t>✗  </a:t>
            </a:r>
            <a:r>
              <a:rPr sz="1250">
                <a:solidFill>
                  <a:srgbClr val="FFFFFF"/>
                </a:solidFill>
                <a:latin typeface="Calibri"/>
              </a:rPr>
              <a:t>Claim to treat a disorder (De Novo or 510(k))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FF6B6B"/>
                </a:solidFill>
                <a:latin typeface="Calibri"/>
              </a:rPr>
              <a:t>✗  </a:t>
            </a:r>
            <a:r>
              <a:rPr sz="1250">
                <a:solidFill>
                  <a:srgbClr val="FFFFFF"/>
                </a:solidFill>
                <a:latin typeface="Calibri"/>
              </a:rPr>
              <a:t>Replace clinician judgment without review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FF6B6B"/>
                </a:solidFill>
                <a:latin typeface="Calibri"/>
              </a:rPr>
              <a:t>✗  </a:t>
            </a:r>
            <a:r>
              <a:rPr sz="1250">
                <a:solidFill>
                  <a:srgbClr val="FFFFFF"/>
                </a:solidFill>
                <a:latin typeface="Calibri"/>
              </a:rPr>
              <a:t>Claim insurance reimbursement before clearance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931920"/>
            <a:ext cx="5788152" cy="2514600"/>
          </a:xfrm>
          <a:prstGeom prst="rect">
            <a:avLst/>
          </a:prstGeom>
          <a:solidFill>
            <a:srgbClr val="1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0416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alibri"/>
              </a:rPr>
              <a:t>🔒  COPPA 2025 — Compliance Deadline April 22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52628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 b="1">
                <a:solidFill>
                  <a:srgbClr val="FFC300"/>
                </a:solidFill>
                <a:latin typeface="Calibri"/>
              </a:rPr>
              <a:t>•  </a:t>
            </a:r>
            <a:r>
              <a:rPr sz="1150">
                <a:solidFill>
                  <a:srgbClr val="FFFFFF"/>
                </a:solidFill>
                <a:latin typeface="Calibri"/>
              </a:rPr>
              <a:t>Parent account only — child never registers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FFC300"/>
                </a:solidFill>
                <a:latin typeface="Calibri"/>
              </a:rPr>
              <a:t>•  </a:t>
            </a:r>
            <a:r>
              <a:rPr sz="1150">
                <a:solidFill>
                  <a:srgbClr val="FFFFFF"/>
                </a:solidFill>
                <a:latin typeface="Calibri"/>
              </a:rPr>
              <a:t>Verifiable parental consent before camera activates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FFC300"/>
                </a:solidFill>
                <a:latin typeface="Calibri"/>
              </a:rPr>
              <a:t>•  </a:t>
            </a:r>
            <a:r>
              <a:rPr sz="1150">
                <a:solidFill>
                  <a:srgbClr val="FFFFFF"/>
                </a:solidFill>
                <a:latin typeface="Calibri"/>
              </a:rPr>
              <a:t>No third-party analytics or ad SDKs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FFC300"/>
                </a:solidFill>
                <a:latin typeface="Calibri"/>
              </a:rPr>
              <a:t>•  </a:t>
            </a:r>
            <a:r>
              <a:rPr sz="1150">
                <a:solidFill>
                  <a:srgbClr val="FFFFFF"/>
                </a:solidFill>
                <a:latin typeface="Calibri"/>
              </a:rPr>
              <a:t>Camera/hand tracking = biometric data under 2025 amendments</a:t>
            </a:r>
          </a:p>
          <a:p>
            <a:pPr>
              <a:spcBef>
                <a:spcPts val="500"/>
              </a:spcBef>
            </a:pPr>
            <a:r>
              <a:rPr sz="1150" b="1">
                <a:solidFill>
                  <a:srgbClr val="FFC300"/>
                </a:solidFill>
                <a:latin typeface="Calibri"/>
              </a:rPr>
              <a:t>•  </a:t>
            </a:r>
            <a:r>
              <a:rPr sz="1150">
                <a:solidFill>
                  <a:srgbClr val="FFFFFF"/>
                </a:solidFill>
                <a:latin typeface="Calibri"/>
              </a:rPr>
              <a:t>$53,088 per violation — architecture built before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Three parallel tracks — consumer, clinical, institutional.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611880" cy="5120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502920" cy="5120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B2C — Direct to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Free core tier (app store — iOS + Android)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Premium subscription: activity prescription library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HSA/FSA eligible from launch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Target: parents of children ages 3–7 in meltdown loop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0B4D8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CAC channel: parenting blogs, pediatrician waiting rooms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325880"/>
            <a:ext cx="3611880" cy="5120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325880"/>
            <a:ext cx="502920" cy="51206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B2B — Schools &amp; Libraries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Site licensing for school districts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Library lending program (B2B route to low-income families)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IDEA early intervention codes (ages 0–3) — federally funded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OT community session as evidence generation site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6D6A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Target: Title I schools, early intervention programs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1325880"/>
            <a:ext cx="3611880" cy="5120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325880"/>
            <a:ext cx="502920" cy="51206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Clinical — Pediatrician + 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PDF report fits 15-min well-child visit (now)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SMART on FHIR integration (v1.5)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AAP Section on Developmental Pediatrics pathway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De Novo clearance → Medicaid/CHIP (APDTA)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C300"/>
                </a:solidFill>
                <a:latin typeface="Calibri"/>
              </a:rPr>
              <a:t>→  </a:t>
            </a:r>
            <a:r>
              <a:rPr sz="1200">
                <a:solidFill>
                  <a:srgbClr val="FFFFFF"/>
                </a:solidFill>
                <a:latin typeface="Calibri"/>
              </a:rPr>
              <a:t>Target: 130,000+ US pediatricians + OT practices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Traction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From need validation to market — a clear critical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0B4D8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566160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Nex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alibri"/>
              </a:rPr>
              <a:t>#2 US hardware Nov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Market proof: parents pay for active screens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566160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Osmo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64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alibri"/>
              </a:rPr>
              <a:t>$100M+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Physical-digital hybrid — validated commercial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3566160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Heckman Eq.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64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alibri"/>
              </a:rPr>
              <a:t>7–12×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99AE"/>
                </a:solidFill>
                <a:latin typeface="Calibri"/>
              </a:rPr>
              <a:t>Early intervention — payer economic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788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Development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27432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75888"/>
            <a:ext cx="2743200" cy="2651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79476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Field validation (parent interviews)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36168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COPPA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92861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Prototype gesture mechanic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549554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OT session shadow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Q3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675888"/>
            <a:ext cx="2743200" cy="2651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379476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MVP with hand-tracking + gap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36168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Free tier app store launch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92861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OT community session pilot (evidence gen)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549554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PDF report for pediatricians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91840"/>
            <a:ext cx="2743200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Q4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675888"/>
            <a:ext cx="2743200" cy="2651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379476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Premium subscription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436168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HSA/FSA filing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92861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SMART on FHIR (v1.5)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549554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School/library B2B pilots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3291840"/>
            <a:ext cx="274320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2027–2028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3675888"/>
            <a:ext cx="2743200" cy="2651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379476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AAP pilot data publication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436168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 Novo FDA filing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92861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Epic/Cerner FHIR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549554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Medicaid/CHIP coverage pathway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029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122883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  <a:latin typeface="Calibri"/>
              </a:rPr>
              <a:t>MotionMind is the only solution that detects 7/8 developmental gaps AND tells parents exactly what to do — at zero parent effort, without removing screens, using household objects. Nothing on the market combines real-time hand-tracking, gesture-based gameplay, and gap-specific activity prescription for children ages 0–11.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3520440" cy="2377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Advisors &amp; Pilots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04488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Pediatric OT advisors to validate gap assessment methodology.
1–2 pilot clinics for well-child visit PDF integration.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3154680"/>
            <a:ext cx="3520440" cy="2377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315468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1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Seed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1" y="3904488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Pre-seed round to fund:
MVP build · COPPA architecture · OT evidence generation · HSA/FSA filing.
Target: $750K–$1.2M.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3154680"/>
            <a:ext cx="3520440" cy="2377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8" y="3154680"/>
            <a:ext cx="3520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0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B4D8"/>
                </a:solidFill>
                <a:latin typeface="Calibri"/>
              </a:rPr>
              <a:t>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8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Clinical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0" y="3904488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Children's hospital research partner for AAP pilot data.
OT community session network (70+ sites via Pathways.org).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11228832" cy="685800"/>
          </a:xfrm>
          <a:prstGeom prst="rect">
            <a:avLst/>
          </a:prstGeom>
          <a:solidFill>
            <a:srgbClr val="06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25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D99AE"/>
                </a:solidFill>
                <a:latin typeface="Calibri"/>
              </a:rPr>
              <a:t>MotionMind  ·  Stanford CIM206 — Biodesign for Digital Health  ·  March 2026  ·  Contact: [your email]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D99AE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