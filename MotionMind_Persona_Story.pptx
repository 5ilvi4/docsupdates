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822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A88A"/>
                </a:solidFill>
                <a:latin typeface="Calibri"/>
              </a:rPr>
              <a:t>A Story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9844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Lena.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578608"/>
            <a:ext cx="4206240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7432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E0"/>
                </a:solidFill>
                <a:latin typeface="Calibri"/>
              </a:rPr>
              <a:t>Age 6. Loves drawing — but her hand gives out
after two minutes. Her mom Maya has no idea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5876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C0A8"/>
                </a:solidFill>
                <a:latin typeface="Calibri"/>
              </a:rPr>
              <a:t>The iPad was never designed for a 6-year-old's body.
MotionMind is the layer that changes how kids
interact with the screens they already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5029200"/>
            <a:ext cx="2560320" cy="475488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5084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MotionMind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5577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E0"/>
                </a:solidFill>
                <a:latin typeface="Calibri"/>
              </a:rPr>
              <a:t>Wearable Development System</a:t>
            </a:r>
          </a:p>
        </p:txBody>
      </p:sp>
      <p:pic>
        <p:nvPicPr>
          <p:cNvPr id="12" name="Picture 11" descr="persona_01_lena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03520" y="5760720"/>
            <a:ext cx="688543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585216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0E0"/>
                </a:solidFill>
                <a:latin typeface="Calibri"/>
              </a:rPr>
              <a:t>Stanford CIM206 — Biodesign for Digital Health  ·  March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sona_01_lena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0"/>
            <a:ext cx="7315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CHAPTER 1 — THE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02920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A2E"/>
                </a:solidFill>
                <a:latin typeface="Calibri"/>
              </a:rPr>
              <a:t>Meet Lena.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07008"/>
            <a:ext cx="4206240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325880"/>
            <a:ext cx="4434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Age 6. Lives in San Jose.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A4A6A"/>
                </a:solidFill>
                <a:latin typeface="Calibri"/>
              </a:rPr>
              <a:t>Loves drawing — but her hand gives out after 2 minutes.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A4A6A"/>
                </a:solidFill>
                <a:latin typeface="Calibri"/>
              </a:rPr>
              <a:t>Her family is one of millions navigating screens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A4A6A"/>
                </a:solidFill>
                <a:latin typeface="Calibri"/>
              </a:rPr>
              <a:t>without a tool to understand what her body actually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816352"/>
            <a:ext cx="4206240" cy="25400"/>
          </a:xfrm>
          <a:prstGeom prst="rect">
            <a:avLst/>
          </a:prstGeom>
          <a:solidFill>
            <a:srgbClr val="D0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94436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Meet Maya.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547872"/>
            <a:ext cx="4434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Age 34. Product manager. Two kids.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A4A6A"/>
                </a:solidFill>
                <a:latin typeface="Calibri"/>
              </a:rPr>
              <a:t>Lena's mom.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A4A6A"/>
                </a:solidFill>
                <a:latin typeface="Calibri"/>
              </a:rPr>
              <a:t>71% of parents are concerned their child spends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A4A6A"/>
                </a:solidFill>
                <a:latin typeface="Calibri"/>
              </a:rPr>
              <a:t>too much time on screens — and have no idea when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0735C"/>
                </a:solidFill>
                <a:latin typeface="Calibri"/>
              </a:rPr>
              <a:t>it becomes clinical or who to call.  (Pew Research, 2020)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86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FFFFFF"/>
                </a:solidFill>
                <a:latin typeface="Calibri"/>
              </a:rPr>
              <a:t>"She should be
holding her pencil
better by now."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673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8A"/>
                </a:solidFill>
                <a:latin typeface="Calibri"/>
              </a:rPr>
              <a:t>— Maya, composite parent persona
  grounded in field 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CHAPTER 2 — THE WORRY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Calibri"/>
              </a:rPr>
              <a:t>Maya sees it.
The screen isn't
the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761488"/>
            <a:ext cx="4206240" cy="254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2999232"/>
            <a:ext cx="38100" cy="29260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9077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iPads &amp; tablets were designed for adults — not developing hands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21868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4A6A"/>
                </a:solidFill>
                <a:latin typeface="Calibri"/>
              </a:rPr>
              <a:t>Touchscreen interaction requires pinch/swipe → skips grip, fine motor, posture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3657600"/>
            <a:ext cx="38100" cy="29260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566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54% of parents say their child is addicted to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87705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4A6A"/>
                </a:solidFill>
                <a:latin typeface="Calibri"/>
              </a:rPr>
              <a:t>Source: cited in Stanford CIM206 source deck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315968"/>
            <a:ext cx="38100" cy="29260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245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93% of screen-off moments trigger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53542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4A6A"/>
                </a:solidFill>
                <a:latin typeface="Calibri"/>
              </a:rPr>
              <a:t>37% say it almost always ends in a fight (Hiniker et al., 2016)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974336"/>
            <a:ext cx="381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88289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28% of parents give in to screens to avoid meltdowns — multiple times/week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19379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4A6A"/>
                </a:solidFill>
                <a:latin typeface="Calibri"/>
              </a:rPr>
              <a:t>Source: Lurie Children's Hospital,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5632704"/>
            <a:ext cx="38100" cy="292608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54126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6A"/>
                </a:solidFill>
                <a:latin typeface="Calibri"/>
              </a:rPr>
              <a:t>OT waitlist: 6 months in most US metro areas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8521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D0E0"/>
                </a:solidFill>
                <a:latin typeface="Calibri"/>
              </a:rPr>
              <a:t>Field observation — no centralized data; consistent across parent reports</a:t>
            </a:r>
          </a:p>
        </p:txBody>
      </p:sp>
      <p:pic>
        <p:nvPicPr>
          <p:cNvPr id="24" name="Picture 23" descr="persona_02_maya_conc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7251192" cy="6858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37760" y="6583680"/>
            <a:ext cx="725119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CHAPTER 2.5 — THE MARKET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21792"/>
            <a:ext cx="11494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Calibri"/>
              </a:rPr>
              <a:t>The screen isn't the enemy.
The interaction design 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8132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72768"/>
            <a:ext cx="11494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4A6A"/>
                </a:solidFill>
                <a:latin typeface="Calibri"/>
              </a:rPr>
              <a:t>Every tool below was designed for adults — or for entertainment. None was built around how a child's body actually develops.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81328"/>
            <a:ext cx="2231136" cy="475488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📱 Standard
Tablet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956816"/>
            <a:ext cx="2231136" cy="3840480"/>
          </a:xfrm>
          <a:prstGeom prst="rect">
            <a:avLst/>
          </a:prstGeom>
          <a:solidFill>
            <a:srgbClr val="F5F5F7"/>
          </a:solidFill>
          <a:ln w="635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Designed for adults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3405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Tap &amp; swipe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07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grip or posture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873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motor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6402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Score: 0/8 dev gaps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481328"/>
            <a:ext cx="2231136" cy="475488"/>
          </a:xfrm>
          <a:prstGeom prst="rect">
            <a:avLst/>
          </a:prstGeom>
          <a:solidFill>
            <a:srgbClr val="DD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508760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🔇 Screen Time
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956816"/>
            <a:ext cx="2231136" cy="3840480"/>
          </a:xfrm>
          <a:prstGeom prst="rect">
            <a:avLst/>
          </a:prstGeom>
          <a:solidFill>
            <a:srgbClr val="F5F5F7"/>
          </a:solidFill>
          <a:ln w="6350">
            <a:solidFill>
              <a:srgbClr val="DD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205740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Controls quantity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273405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Ignores interaction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4107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skill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40873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Increases conflict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76402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7722"/>
                </a:solidFill>
                <a:latin typeface="Calibri"/>
              </a:rPr>
              <a:t>Score: 0/8 dev gaps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481328"/>
            <a:ext cx="2231136" cy="475488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1508760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🕹️ Motion Games
(Kinect, Nex)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1956816"/>
            <a:ext cx="2231136" cy="3840480"/>
          </a:xfrm>
          <a:prstGeom prst="rect">
            <a:avLst/>
          </a:prstGeom>
          <a:solidFill>
            <a:srgbClr val="F5F5F7"/>
          </a:solidFill>
          <a:ln w="6350">
            <a:solidFill>
              <a:srgbClr val="44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5776" y="205740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Gross motor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273405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handgrip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5776" y="34107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fine motor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5776" y="40873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prescription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5776" y="476402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88CC"/>
                </a:solidFill>
                <a:latin typeface="Calibri"/>
              </a:rPr>
              <a:t>Score: 3/8 dev gaps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0336" y="1481328"/>
            <a:ext cx="2231136" cy="475488"/>
          </a:xfrm>
          <a:prstGeom prst="rect">
            <a:avLst/>
          </a:prstGeom>
          <a:solidFill>
            <a:srgbClr val="88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1776" y="1508760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📚 Osmo / Tablet
+ Accessories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0336" y="1956816"/>
            <a:ext cx="2231136" cy="3840480"/>
          </a:xfrm>
          <a:prstGeom prst="rect">
            <a:avLst/>
          </a:prstGeom>
          <a:solidFill>
            <a:srgbClr val="F5F5F7"/>
          </a:solidFill>
          <a:ln w="6350">
            <a:solidFill>
              <a:srgbClr val="88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205740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Visual-spatial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0064" y="273405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body sensing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34107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wearable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0064" y="40873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No gap 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0064" y="476402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66AA"/>
                </a:solidFill>
                <a:latin typeface="Calibri"/>
              </a:rPr>
              <a:t>Score: 2/8 dev gaps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64624" y="1481328"/>
            <a:ext cx="2231136" cy="47548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6064" y="1508760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🏥 Pediatric 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64624" y="1956816"/>
            <a:ext cx="2231136" cy="3840480"/>
          </a:xfrm>
          <a:prstGeom prst="rect">
            <a:avLst/>
          </a:prstGeom>
          <a:solidFill>
            <a:srgbClr val="F5F5F7"/>
          </a:solidFill>
          <a:ln w="635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4352" y="205740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Best clinical tool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273405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But: 6-month wait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34107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$150–$300/session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40873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Insurance barriers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4352" y="476402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35C"/>
                </a:solidFill>
                <a:latin typeface="Calibri"/>
              </a:rPr>
              <a:t>Score: 8/8 (inaccessible)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5888736"/>
            <a:ext cx="11494008" cy="65836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5998464"/>
            <a:ext cx="11137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MotionMind  =  Wearable band (grip + EMG)  +  Camera hand-tracking  +  AI layer  →  Transforms every screen session into developmental therapy. 7/8 gaps. At home.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sona_03_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CHAPTER 3 — THE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First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664208"/>
            <a:ext cx="3840480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82880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35C"/>
                </a:solidFill>
                <a:latin typeface="Calibri"/>
              </a:rPr>
              <a:t>Lena wears the MotionMind band on her wrist.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D0D0E0"/>
                </a:solidFill>
                <a:latin typeface="Calibri"/>
              </a:rPr>
              <a:t>The hand-tracking game activates on the tablet.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D0D0E0"/>
                </a:solidFill>
                <a:latin typeface="Calibri"/>
              </a:rPr>
              <a:t>Google MediaPipe reads 21 hand skeleton points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D0D0E0"/>
                </a:solidFill>
                <a:latin typeface="Calibri"/>
              </a:rPr>
              <a:t>at &lt;10ms latency — no special hardware needed.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D0D0E0"/>
                </a:solidFill>
                <a:latin typeface="Calibri"/>
              </a:rPr>
              <a:t>The band logs grip force and wrist movement live.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The app scores 7 developmental gaps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4407408"/>
            <a:ext cx="4206240" cy="1234440"/>
          </a:xfrm>
          <a:prstGeom prst="roundRect">
            <a:avLst/>
          </a:prstGeom>
          <a:solidFill>
            <a:srgbClr val="0A221A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44988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"93% of parents report screen-off conflicts at
least occasionally. 37% say it almost always
ends in a fight."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53218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8A"/>
                </a:solidFill>
                <a:latin typeface="Calibri"/>
              </a:rPr>
              <a:t>— Hiniker et al., 2016  (why engagement matters from minute 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rsona_04_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0"/>
            <a:ext cx="7315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CHAPTER 4 — THE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58368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1A2E"/>
                </a:solidFill>
                <a:latin typeface="Calibri"/>
              </a:rPr>
              <a:t>Maya opens
the report.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286000"/>
            <a:ext cx="5486400" cy="254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4231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6A"/>
                </a:solidFill>
                <a:latin typeface="Calibri"/>
              </a:rPr>
              <a:t>After the first session, the app generates Lena's
developmental gap profile — automatically.
No clinical visit. No questionnaire.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4015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0E0"/>
                </a:solidFill>
                <a:latin typeface="Calibri"/>
              </a:rPr>
              <a:t>Illustrative gap profile — pending OT field validation: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857752"/>
            <a:ext cx="2560320" cy="2286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3857752"/>
            <a:ext cx="1997049" cy="2286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37307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Fine motor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781552"/>
            <a:ext cx="1115568" cy="279400"/>
          </a:xfrm>
          <a:prstGeom prst="roundRect">
            <a:avLst/>
          </a:prstGeom>
          <a:solidFill>
            <a:srgbClr val="E0F5EA"/>
          </a:solidFill>
          <a:ln w="635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3806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35C"/>
                </a:solidFill>
                <a:latin typeface="Calibri"/>
              </a:rPr>
              <a:t>On 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305808"/>
            <a:ext cx="2560320" cy="2286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4305808"/>
            <a:ext cx="1331366" cy="2286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41788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Handgrip strength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229608"/>
            <a:ext cx="1115568" cy="279400"/>
          </a:xfrm>
          <a:prstGeom prst="roundRect">
            <a:avLst/>
          </a:prstGeom>
          <a:solidFill>
            <a:srgbClr val="FFEEDD"/>
          </a:solidFill>
          <a:ln w="63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42550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6A1A"/>
                </a:solidFill>
                <a:latin typeface="Calibri"/>
              </a:rPr>
              <a:t>Needs 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753864"/>
            <a:ext cx="2560320" cy="2286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4753864"/>
            <a:ext cx="1152144" cy="2286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4626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Muscle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677664"/>
            <a:ext cx="1115568" cy="279400"/>
          </a:xfrm>
          <a:prstGeom prst="roundRect">
            <a:avLst/>
          </a:prstGeom>
          <a:solidFill>
            <a:srgbClr val="FFEEDD"/>
          </a:solidFill>
          <a:ln w="63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4064" y="470306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6A1A"/>
                </a:solidFill>
                <a:latin typeface="Calibri"/>
              </a:rPr>
              <a:t>Needs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201920"/>
            <a:ext cx="2560320" cy="2286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5201920"/>
            <a:ext cx="2253081" cy="2286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50749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Gross motor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5125720"/>
            <a:ext cx="1115568" cy="279400"/>
          </a:xfrm>
          <a:prstGeom prst="roundRect">
            <a:avLst/>
          </a:prstGeom>
          <a:solidFill>
            <a:srgbClr val="E0F5EA"/>
          </a:solidFill>
          <a:ln w="635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51511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35C"/>
                </a:solidFill>
                <a:latin typeface="Calibri"/>
              </a:rPr>
              <a:t>On Track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5649976"/>
            <a:ext cx="2560320" cy="2286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" y="5649976"/>
            <a:ext cx="2176272" cy="2286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5522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Visual-motor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5573776"/>
            <a:ext cx="1115568" cy="279400"/>
          </a:xfrm>
          <a:prstGeom prst="roundRect">
            <a:avLst/>
          </a:prstGeom>
          <a:solidFill>
            <a:srgbClr val="E0F5EA"/>
          </a:solidFill>
          <a:ln w="635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559917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35C"/>
                </a:solidFill>
                <a:latin typeface="Calibri"/>
              </a:rPr>
              <a:t>On Track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6098032"/>
            <a:ext cx="2560320" cy="2286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7472" y="6098032"/>
            <a:ext cx="1741017" cy="2286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40" y="59710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  <a:latin typeface="Calibri"/>
              </a:rPr>
              <a:t>Vestibular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6021832"/>
            <a:ext cx="1115568" cy="279400"/>
          </a:xfrm>
          <a:prstGeom prst="roundRect">
            <a:avLst/>
          </a:prstGeom>
          <a:solidFill>
            <a:srgbClr val="E0F5EA"/>
          </a:solidFill>
          <a:ln w="635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4064" y="6047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35C"/>
                </a:solidFill>
                <a:latin typeface="Calibri"/>
              </a:rPr>
              <a:t>On Track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" y="6455664"/>
            <a:ext cx="5486400" cy="201168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5212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Gap-matched Rx: Playdough squeeze · Finger obstacle course · Lego sorting  (OT-designed, household objects)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61996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0E0"/>
                </a:solidFill>
                <a:latin typeface="Calibri"/>
              </a:rPr>
              <a:t>Persona narrative: "I finally have a name for it. And a next step."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sona_05_trans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001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109728" cy="68580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CHAPTER 5 — THE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58368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Week 4.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931920" cy="254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813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0E0"/>
                </a:solidFill>
                <a:latin typeface="Calibri"/>
              </a:rPr>
              <a:t>Pilot outcomes — target Q3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847088"/>
            <a:ext cx="3931920" cy="127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7248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C24A"/>
                </a:solidFill>
                <a:latin typeface="Calibri"/>
              </a:rPr>
              <a:t>↑ Improving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9486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0"/>
                </a:solidFill>
                <a:latin typeface="Calibri"/>
              </a:rPr>
              <a:t>Grip strength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560320"/>
            <a:ext cx="3931920" cy="127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58572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88A"/>
                </a:solidFill>
                <a:latin typeface="Calibri"/>
              </a:rPr>
              <a:t>↑ Improving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661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0"/>
                </a:solidFill>
                <a:latin typeface="Calibri"/>
              </a:rPr>
              <a:t>Fine motor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273552"/>
            <a:ext cx="3931920" cy="127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29895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↑ Engaged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375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0"/>
                </a:solidFill>
                <a:latin typeface="Calibri"/>
              </a:rPr>
              <a:t>Drawing sessions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986784"/>
            <a:ext cx="3931920" cy="127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012184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C24A"/>
                </a:solidFill>
                <a:latin typeface="Calibri"/>
              </a:rPr>
              <a:t>↓ Reducing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4088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0"/>
                </a:solidFill>
                <a:latin typeface="Calibri"/>
              </a:rPr>
              <a:t>Screen conflicts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4700016"/>
            <a:ext cx="3931920" cy="127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72541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88A"/>
                </a:solidFill>
                <a:latin typeface="Calibri"/>
              </a:rPr>
              <a:t>↑ Consistent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801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0"/>
                </a:solidFill>
                <a:latin typeface="Calibri"/>
              </a:rPr>
              <a:t>Completed tasks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5468112"/>
            <a:ext cx="3931920" cy="254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5614416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Calibri"/>
              </a:rPr>
              <a:t>Persona narrative:
"She asked to draw instead
of the tablet. For the first time."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64008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C24A"/>
                </a:solidFill>
                <a:latin typeface="Calibri"/>
              </a:rPr>
              <a:t>— Maya (composite persona)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HOW MOTIONMIND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21792"/>
            <a:ext cx="114940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Calibri"/>
              </a:rPr>
              <a:t>Three layers. One complete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81328"/>
            <a:ext cx="3749039" cy="47548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36192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⌚  WEARABLE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956816"/>
            <a:ext cx="3749039" cy="4462272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029968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735C"/>
                </a:solidFill>
                <a:latin typeface="Calibri"/>
              </a:rPr>
              <a:t>$49 · Wrist sensor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2377440"/>
            <a:ext cx="3456431" cy="127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" y="2660904"/>
            <a:ext cx="381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514600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Handgrip force sensor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319272"/>
            <a:ext cx="381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172968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Surface EMG (muscle activity)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3977640"/>
            <a:ext cx="381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831336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3-axis accelerometer + gyroscope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4636008"/>
            <a:ext cx="381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489704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Skin conductance (arousal)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5294376"/>
            <a:ext cx="381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148072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35C"/>
                </a:solidFill>
                <a:latin typeface="Calibri"/>
              </a:rPr>
              <a:t>→  Captures what camera CAN'T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39" y="1481328"/>
            <a:ext cx="3749039" cy="475488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5" y="1536192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📷  CAMERA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39" y="1956816"/>
            <a:ext cx="3749039" cy="4462272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3" y="2029968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A88A"/>
                </a:solidFill>
                <a:latin typeface="Calibri"/>
              </a:rPr>
              <a:t>No extra hardware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2543" y="2377440"/>
            <a:ext cx="3456431" cy="127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52543" y="2660904"/>
            <a:ext cx="381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2514600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Google MediaPipe — 21-point hand skeleton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2543" y="3319272"/>
            <a:ext cx="381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172968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Full body pose landmarks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2543" y="3977640"/>
            <a:ext cx="381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3831336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Gesture quality scoring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52543" y="4636008"/>
            <a:ext cx="381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4489704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Visual-motor reaction timing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52543" y="5294376"/>
            <a:ext cx="381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59" y="5148072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8A"/>
                </a:solidFill>
                <a:latin typeface="Calibri"/>
              </a:rPr>
              <a:t>→  Works on any tablet/phone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6" y="1481328"/>
            <a:ext cx="3749039" cy="475488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2" y="1536192"/>
            <a:ext cx="3493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 AI 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5006" y="1956816"/>
            <a:ext cx="3749039" cy="4462272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4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0" y="2029968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6A"/>
                </a:solidFill>
                <a:latin typeface="Calibri"/>
              </a:rPr>
              <a:t>Cloud + on-device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11310" y="2377440"/>
            <a:ext cx="3456431" cy="127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11310" y="2660904"/>
            <a:ext cx="38100" cy="381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6" y="2514600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Fuses band + camera in real time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1310" y="3319272"/>
            <a:ext cx="38100" cy="381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6" y="3172968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Scores 7/8 developmental gaps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11310" y="3977640"/>
            <a:ext cx="38100" cy="381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6" y="3831336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Generates activity prescription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1310" y="4636008"/>
            <a:ext cx="38100" cy="381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6" y="4489704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Tracks progress week-over-week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11310" y="5294376"/>
            <a:ext cx="38100" cy="3810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6" y="5148072"/>
            <a:ext cx="3328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6A"/>
                </a:solidFill>
                <a:latin typeface="Calibri"/>
              </a:rPr>
              <a:t>→  Parent report + clinician PDF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7472" y="6510528"/>
            <a:ext cx="11494008" cy="256032"/>
          </a:xfrm>
          <a:prstGeom prst="roundRect">
            <a:avLst/>
          </a:prstGeom>
          <a:solidFill>
            <a:srgbClr val="E8F5F1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6547104"/>
            <a:ext cx="11137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35C"/>
                </a:solidFill>
                <a:latin typeface="Calibri"/>
              </a:rPr>
              <a:t>Zero clinical expertise required from parents.  COPPA 2025 compliant.  FDA General Wellness (Jan 2026).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4940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8M kids. Billions of screen hours.
Zero tools designed for their bodies.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36192"/>
            <a:ext cx="11494008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828800"/>
            <a:ext cx="3657600" cy="1920240"/>
          </a:xfrm>
          <a:prstGeom prst="rect">
            <a:avLst/>
          </a:prstGeom>
          <a:solidFill>
            <a:srgbClr val="2C2C3E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828800"/>
            <a:ext cx="36576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3852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735C"/>
                </a:solidFill>
                <a:latin typeface="Calibri"/>
              </a:rPr>
              <a:t>8M+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3464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E0"/>
                </a:solidFill>
                <a:latin typeface="Calibri"/>
              </a:rPr>
              <a:t>US children 0–11
showing symptoms
(CDC / Boyle et al.)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3657600" cy="1920240"/>
          </a:xfrm>
          <a:prstGeom prst="rect">
            <a:avLst/>
          </a:prstGeom>
          <a:solidFill>
            <a:srgbClr val="2C2C3E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657600" cy="381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93852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E86A1A"/>
                </a:solidFill>
                <a:latin typeface="Calibri"/>
              </a:rPr>
              <a:t>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83464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E0"/>
                </a:solidFill>
                <a:latin typeface="Calibri"/>
              </a:rPr>
              <a:t>of adolescents don't
meet movement guidelines
(WHO, Lancet 2019)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828800"/>
            <a:ext cx="3657600" cy="1920240"/>
          </a:xfrm>
          <a:prstGeom prst="rect">
            <a:avLst/>
          </a:prstGeom>
          <a:solidFill>
            <a:srgbClr val="2C2C3E"/>
          </a:solidFill>
          <a:ln w="1270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828800"/>
            <a:ext cx="3657600" cy="38100"/>
          </a:xfrm>
          <a:prstGeom prst="rect">
            <a:avLst/>
          </a:prstGeom>
          <a:solidFill>
            <a:srgbClr val="D0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3852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D0D0E0"/>
                </a:solidFill>
                <a:latin typeface="Calibri"/>
              </a:rPr>
              <a:t>6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83464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E0"/>
                </a:solidFill>
                <a:latin typeface="Calibri"/>
              </a:rPr>
              <a:t>average daily
screen time for children
(source deck)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069080"/>
            <a:ext cx="3657600" cy="1920240"/>
          </a:xfrm>
          <a:prstGeom prst="rect">
            <a:avLst/>
          </a:prstGeom>
          <a:solidFill>
            <a:srgbClr val="2C2C3E"/>
          </a:solidFill>
          <a:ln w="12700">
            <a:solidFill>
              <a:srgbClr val="00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4069080"/>
            <a:ext cx="3657600" cy="38100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17880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A88A"/>
                </a:solidFill>
                <a:latin typeface="Calibri"/>
              </a:rPr>
              <a:t>$103B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E0"/>
                </a:solidFill>
                <a:latin typeface="Calibri"/>
              </a:rPr>
              <a:t>child rehab + digital health
market by 2034, 7% CAGR
(source deck)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4069080"/>
            <a:ext cx="3657600" cy="1920240"/>
          </a:xfrm>
          <a:prstGeom prst="rect">
            <a:avLst/>
          </a:prstGeom>
          <a:solidFill>
            <a:srgbClr val="2C2C3E"/>
          </a:solidFill>
          <a:ln w="1270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4069080"/>
            <a:ext cx="3657600" cy="381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417880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6CC24A"/>
                </a:solidFill>
                <a:latin typeface="Calibri"/>
              </a:rPr>
              <a:t>7–12×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E0"/>
                </a:solidFill>
                <a:latin typeface="Calibri"/>
              </a:rPr>
              <a:t>ROI on early intervention
(Heckman, heckmanequation.org)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4464" y="4069080"/>
            <a:ext cx="3657600" cy="1920240"/>
          </a:xfrm>
          <a:prstGeom prst="rect">
            <a:avLst/>
          </a:prstGeom>
          <a:solidFill>
            <a:srgbClr val="2C2C3E"/>
          </a:solidFill>
          <a:ln w="12700">
            <a:solidFill>
              <a:srgbClr val="007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4464" y="4069080"/>
            <a:ext cx="3657600" cy="381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417880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735C"/>
                </a:solidFill>
                <a:latin typeface="Calibri"/>
              </a:rPr>
              <a:t>7/8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507492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E0"/>
                </a:solidFill>
                <a:latin typeface="Calibri"/>
              </a:rPr>
              <a:t>developmental gaps
MotionMind closes
(product claim)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ersona_05_trans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0" y="6583680"/>
            <a:ext cx="62453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201168"/>
            <a:ext cx="2377440" cy="347472"/>
          </a:xfrm>
          <a:prstGeom prst="round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8368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screen isn't
leaving. Let's fix
what it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2487168"/>
            <a:ext cx="5120640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6517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E0"/>
                </a:solidFill>
                <a:latin typeface="Calibri"/>
              </a:rPr>
              <a:t>iPads and tablets were designed for adults.
MotionMind is the first system built around
how a child's body actually develops —
turning every screen session into a chance
to grow, not just consume.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4224528"/>
            <a:ext cx="5120640" cy="2540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42793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9078"/>
                </a:solidFill>
                <a:latin typeface="Calibri"/>
              </a:rPr>
              <a:t>Lena &amp; Maya are composite personas. All statistics sourced from CIM206_Biodesign_Deck(3).pptx.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4407408"/>
            <a:ext cx="50800" cy="475488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35C"/>
                </a:solidFill>
                <a:latin typeface="Calibri"/>
              </a:rPr>
              <a:t>Seed 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4622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0"/>
                </a:solidFill>
                <a:latin typeface="Calibri"/>
              </a:rPr>
              <a:t>$750K–$1.2M  ·  Band v1 + App launch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5029200"/>
            <a:ext cx="50800" cy="475488"/>
          </a:xfrm>
          <a:prstGeom prst="rect">
            <a:avLst/>
          </a:prstGeom>
          <a:solidFill>
            <a:srgbClr val="00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0657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8A"/>
                </a:solidFill>
                <a:latin typeface="Calibri"/>
              </a:rPr>
              <a:t>Pilot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840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0"/>
                </a:solidFill>
                <a:latin typeface="Calibri"/>
              </a:rPr>
              <a:t>3–5 OT practices + schools  ·  Q3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5650992"/>
            <a:ext cx="50800" cy="47548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6875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C24A"/>
                </a:solidFill>
                <a:latin typeface="Calibri"/>
              </a:rPr>
              <a:t>Advisors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7058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0"/>
                </a:solidFill>
                <a:latin typeface="Calibri"/>
              </a:rPr>
              <a:t>Pediatric OT  ·  FDA counsel  ·  HW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61996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9078"/>
                </a:solidFill>
                <a:latin typeface="Calibri"/>
              </a:rPr>
              <a:t>MotionMind  ·  Stanford CIM206  ·  March 2026
contact@motionmind.com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MotionMind  ·  Confidential  ·  March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